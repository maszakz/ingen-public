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91989a4d0146a7" /><Relationship Type="http://schemas.openxmlformats.org/officeDocument/2006/relationships/extended-properties" Target="/docProps/app.xml" Id="R420f90b4b3504875" /><Relationship Type="http://schemas.openxmlformats.org/officeDocument/2006/relationships/officeDocument" Target="/ppt/presentation.xml" Id="Re13fcbb80bfe43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a23408ec8e04d3d"/>
  </p:sldMasterIdLst>
  <p:notesMasterIdLst>
    <p:notesMasterId xmlns:r="http://schemas.openxmlformats.org/officeDocument/2006/relationships" r:id="R242b33a54d3c4131"/>
  </p:notesMasterIdLst>
  <p:sldIdLst>
    <p:sldId xmlns:r="http://schemas.openxmlformats.org/officeDocument/2006/relationships" id="256" r:id="Raec3b129543047ff"/>
    <p:sldId xmlns:r="http://schemas.openxmlformats.org/officeDocument/2006/relationships" id="257" r:id="R4f279a7403144a21"/>
    <p:sldId xmlns:r="http://schemas.openxmlformats.org/officeDocument/2006/relationships" id="258" r:id="R4193408db81c4eb5"/>
    <p:sldId xmlns:r="http://schemas.openxmlformats.org/officeDocument/2006/relationships" id="259" r:id="R9c053a90b2214845"/>
    <p:sldId xmlns:r="http://schemas.openxmlformats.org/officeDocument/2006/relationships" id="260" r:id="Rdfca0ccec0054b58"/>
    <p:sldId xmlns:r="http://schemas.openxmlformats.org/officeDocument/2006/relationships" id="261" r:id="Re3551facbd284cd0"/>
    <p:sldId xmlns:r="http://schemas.openxmlformats.org/officeDocument/2006/relationships" id="262" r:id="R421604e3173a4014"/>
    <p:sldId xmlns:r="http://schemas.openxmlformats.org/officeDocument/2006/relationships" id="263" r:id="R03024293d6f54446"/>
    <p:sldId xmlns:r="http://schemas.openxmlformats.org/officeDocument/2006/relationships" id="264" r:id="R4c09826014b04b10"/>
    <p:sldId xmlns:r="http://schemas.openxmlformats.org/officeDocument/2006/relationships" id="265" r:id="R7f332dba6e8042f6"/>
    <p:sldId xmlns:r="http://schemas.openxmlformats.org/officeDocument/2006/relationships" id="266" r:id="Rc3dfaba48fa6492e"/>
    <p:sldId xmlns:r="http://schemas.openxmlformats.org/officeDocument/2006/relationships" id="267" r:id="R42fb3743889a464d"/>
    <p:sldId xmlns:r="http://schemas.openxmlformats.org/officeDocument/2006/relationships" id="268" r:id="R62bf0ffcea0d4626"/>
    <p:sldId xmlns:r="http://schemas.openxmlformats.org/officeDocument/2006/relationships" id="269" r:id="R8bf04b90e125429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b2b16772ab42ef" /><Relationship Type="http://schemas.openxmlformats.org/officeDocument/2006/relationships/slideMaster" Target="/ppt/slideMasters/slideMaster1.xml" Id="R7a23408ec8e04d3d" /><Relationship Type="http://schemas.openxmlformats.org/officeDocument/2006/relationships/notesMaster" Target="/ppt/notesMasters/notesMaster1.xml" Id="R242b33a54d3c4131" /><Relationship Type="http://schemas.openxmlformats.org/officeDocument/2006/relationships/presProps" Target="/ppt/presProps.xml" Id="R7cf5943b11c041da" /><Relationship Type="http://schemas.openxmlformats.org/officeDocument/2006/relationships/viewProps" Target="/ppt/viewProps.xml" Id="R0ca17af3c8494101" /><Relationship Type="http://schemas.openxmlformats.org/officeDocument/2006/relationships/tableStyles" Target="/ppt/tableStyles.xml" Id="R2daf1710aa6341bd" /><Relationship Type="http://schemas.openxmlformats.org/officeDocument/2006/relationships/slide" Target="/ppt/slides/slide1.xml" Id="Raec3b129543047ff" /><Relationship Type="http://schemas.openxmlformats.org/officeDocument/2006/relationships/slide" Target="/ppt/slides/slide2.xml" Id="R4f279a7403144a21" /><Relationship Type="http://schemas.openxmlformats.org/officeDocument/2006/relationships/slide" Target="/ppt/slides/slide3.xml" Id="R4193408db81c4eb5" /><Relationship Type="http://schemas.openxmlformats.org/officeDocument/2006/relationships/slide" Target="/ppt/slides/slide4.xml" Id="R9c053a90b2214845" /><Relationship Type="http://schemas.openxmlformats.org/officeDocument/2006/relationships/slide" Target="/ppt/slides/slide5.xml" Id="Rdfca0ccec0054b58" /><Relationship Type="http://schemas.openxmlformats.org/officeDocument/2006/relationships/slide" Target="/ppt/slides/slide6.xml" Id="Re3551facbd284cd0" /><Relationship Type="http://schemas.openxmlformats.org/officeDocument/2006/relationships/slide" Target="/ppt/slides/slide7.xml" Id="R421604e3173a4014" /><Relationship Type="http://schemas.openxmlformats.org/officeDocument/2006/relationships/slide" Target="/ppt/slides/slide8.xml" Id="R03024293d6f54446" /><Relationship Type="http://schemas.openxmlformats.org/officeDocument/2006/relationships/slide" Target="/ppt/slides/slide9.xml" Id="R4c09826014b04b10" /><Relationship Type="http://schemas.openxmlformats.org/officeDocument/2006/relationships/slide" Target="/ppt/slides/slide10.xml" Id="R7f332dba6e8042f6" /><Relationship Type="http://schemas.openxmlformats.org/officeDocument/2006/relationships/slide" Target="/ppt/slides/slide11.xml" Id="Rc3dfaba48fa6492e" /><Relationship Type="http://schemas.openxmlformats.org/officeDocument/2006/relationships/slide" Target="/ppt/slides/slide12.xml" Id="R42fb3743889a464d" /><Relationship Type="http://schemas.openxmlformats.org/officeDocument/2006/relationships/slide" Target="/ppt/slides/slide13.xml" Id="R62bf0ffcea0d4626" /><Relationship Type="http://schemas.openxmlformats.org/officeDocument/2006/relationships/slide" Target="/ppt/slides/slide14.xml" Id="R8bf04b90e12542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9d17c27cba41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1394bdac5a4204" /><Relationship Type="http://schemas.openxmlformats.org/officeDocument/2006/relationships/notesMaster" Target="/ppt/notesMasters/notesMaster1.xml" Id="R3e67e342033149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0e768dcf68477a" /><Relationship Type="http://schemas.openxmlformats.org/officeDocument/2006/relationships/notesMaster" Target="/ppt/notesMasters/notesMaster1.xml" Id="R864a0c49b7954b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7ecbc2d7fe4f3e" /><Relationship Type="http://schemas.openxmlformats.org/officeDocument/2006/relationships/notesMaster" Target="/ppt/notesMasters/notesMaster1.xml" Id="R7341ca46d79b4b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08f0e182d704a1d" /><Relationship Type="http://schemas.openxmlformats.org/officeDocument/2006/relationships/notesMaster" Target="/ppt/notesMasters/notesMaster1.xml" Id="Rc821796bb14d49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390bd9e03a4d88" /><Relationship Type="http://schemas.openxmlformats.org/officeDocument/2006/relationships/notesMaster" Target="/ppt/notesMasters/notesMaster1.xml" Id="R3d070acfff1b428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e3a060290994d93" /><Relationship Type="http://schemas.openxmlformats.org/officeDocument/2006/relationships/notesMaster" Target="/ppt/notesMasters/notesMaster1.xml" Id="Rdb118f6a36e041e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adaf298e9c7440a" /><Relationship Type="http://schemas.openxmlformats.org/officeDocument/2006/relationships/notesMaster" Target="/ppt/notesMasters/notesMaster1.xml" Id="R3bee7bfd781841f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4626361ab694cfd" /><Relationship Type="http://schemas.openxmlformats.org/officeDocument/2006/relationships/notesMaster" Target="/ppt/notesMasters/notesMaster1.xml" Id="Rbab782f9cb084bc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250713acd1d4c57" /><Relationship Type="http://schemas.openxmlformats.org/officeDocument/2006/relationships/notesMaster" Target="/ppt/notesMasters/notesMaster1.xml" Id="R4d009e42d12d435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44a1413bf534994" /><Relationship Type="http://schemas.openxmlformats.org/officeDocument/2006/relationships/notesMaster" Target="/ppt/notesMasters/notesMaster1.xml" Id="R4207caa1a66d435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5259f8045124edc" /><Relationship Type="http://schemas.openxmlformats.org/officeDocument/2006/relationships/notesMaster" Target="/ppt/notesMasters/notesMaster1.xml" Id="R4dd14799dd43419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01402ec3cfd432c" /><Relationship Type="http://schemas.openxmlformats.org/officeDocument/2006/relationships/notesMaster" Target="/ppt/notesMasters/notesMaster1.xml" Id="Ra9fa00c4521543a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e8fc8818a6c4beb" /><Relationship Type="http://schemas.openxmlformats.org/officeDocument/2006/relationships/notesMaster" Target="/ppt/notesMasters/notesMaster1.xml" Id="Rf232ff595bf0477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b4da78e65fe4f76" /><Relationship Type="http://schemas.openxmlformats.org/officeDocument/2006/relationships/notesMaster" Target="/ppt/notesMasters/notesMaster1.xml" Id="Rda6aa87cb73444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Capstone Report, Abstract</a:t>
            </a:r>
            <a:endParaRPr/>
          </a:p>
          <a:p xmlns:a="http://schemas.openxmlformats.org/drawingml/2006/main">
            <a:r>
              <a:t>- Capstone Report, Registered Common-Prompt Contrast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W08 PIC 2.0 Analysis</a:t>
            </a:r>
            <a:endParaRPr/>
          </a:p>
          <a:p xmlns:a="http://schemas.openxmlformats.org/drawingml/2006/main">
            <a:r>
              <a:t>- Capstone Report, Physical-AI and PIC 2.0 Context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Capstone Report, Motivation and Research Gap</a:t>
            </a:r>
            <a:endParaRPr/>
          </a:p>
          <a:p xmlns:a="http://schemas.openxmlformats.org/drawingml/2006/main">
            <a:r>
              <a:t>- Literature review synthesis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Capstone Report, Research Questions</a:t>
            </a:r>
            <a:endParaRPr/>
          </a:p>
          <a:p xmlns:a="http://schemas.openxmlformats.org/drawingml/2006/main">
            <a:r>
              <a:t>- Registered Confirmation Design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Capstone Report, Registered Confirmation Design</a:t>
            </a:r>
            <a:endParaRPr/>
          </a:p>
          <a:p xmlns:a="http://schemas.openxmlformats.org/drawingml/2006/main">
            <a:r>
              <a:t>- W07 Analysis, common-prompt baseline rates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W05 Results Memo</a:t>
            </a:r>
            <a:endParaRPr/>
          </a:p>
          <a:p xmlns:a="http://schemas.openxmlformats.org/drawingml/2006/main">
            <a:r>
              <a:t>- W05 Semantic Audit Summary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W06 Analysis</a:t>
            </a:r>
            <a:endParaRPr/>
          </a:p>
          <a:p xmlns:a="http://schemas.openxmlformats.org/drawingml/2006/main">
            <a:r>
              <a:t>- W06 Confirmation Methods Addendum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Capstone Report, Cross-Experiment Synthesis</a:t>
            </a:r>
            <a:endParaRPr/>
          </a:p>
          <a:p xmlns:a="http://schemas.openxmlformats.org/drawingml/2006/main">
            <a:r>
              <a:t>- W07 Analysis, paired common-prompt contrasts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W08 PIC 2.0 Analysis</a:t>
            </a:r>
            <a:endParaRPr/>
          </a:p>
          <a:p xmlns:a="http://schemas.openxmlformats.org/drawingml/2006/main">
            <a:r>
              <a:t>- Capstone Report, PIC 2.0 Model-to-Risk Mapping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W08 Application Framework, per-platform priority matrix</a:t>
            </a:r>
            <a:endParaRPr/>
          </a:p>
          <a:p xmlns:a="http://schemas.openxmlformats.org/drawingml/2006/main">
            <a:r>
              <a:t>- Capstone Report, Platform-and-Task-Risk Research Matrix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Capstone Report, Limitations and Future Research</a:t>
            </a:r>
            <a:endParaRPr/>
          </a:p>
          <a:p xmlns:a="http://schemas.openxmlformats.org/drawingml/2006/main">
            <a:r>
              <a:t>- Conditional measurement stress analysis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Paper Draft v2</a:t>
            </a:r>
            <a:endParaRPr/>
          </a:p>
          <a:p xmlns:a="http://schemas.openxmlformats.org/drawingml/2006/main">
            <a:r>
              <a:t>- Registered C1-C5 claim hierarchy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Capstone Report, Executive Summary</a:t>
            </a:r>
            <a:endParaRPr/>
          </a:p>
          <a:p xmlns:a="http://schemas.openxmlformats.org/drawingml/2006/main">
            <a:r>
              <a:t>- Capstone Report, Conclusion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Capstone Report, Cross-Experiment Synthesis</a:t>
            </a:r>
            <a:endParaRPr/>
          </a:p>
          <a:p xmlns:a="http://schemas.openxmlformats.org/drawingml/2006/main">
            <a:r>
              <a:t>- Capstone Report, Limitations and Future Research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c9c38b2cbc433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665d9fc78d4b5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8987a6ab07460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d01ecde034432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93563d958d448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ba146bc9dc489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520bb7bf6a4af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28d0e24186401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b26a92de884d6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8098991674438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fa13d4f05d48f8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EF214FD-CCF6-4C2D-9758-D7F513F9BBE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DCF3C282-0B10-472E-8FE2-9227B29CDA2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7D8DBFA-6CA5-4C50-AC96-127D4A40C1A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7/15/2026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9351608-0CD4-4E41-8B3A-27633EFF32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B45429D-BDA3-47CD-8225-EC3BC6FFB6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9B8A42C-7BF0-4633-A26F-D7361534E4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833B301-C19A-4AD6-A57F-6325895BD2E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796E882-4444-42AA-995D-6F21AF2F85E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7/15/2026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D4AAA43-2096-4AA3-82DE-EF278BB316F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F9E88EE-2968-4F49-83C0-A3E6A7FF6D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5FC395D-3F63-4606-859A-B01050BE59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F8EC25D-662A-40B3-95BA-4F46015D35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BD9DDB0-7BB8-4B69-8CD2-7693E47E86C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7/15/2026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AFC303A-9ECB-4DAF-96C5-385001DE28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96006B0-FBE6-4081-9B90-A9E824D8C0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CB6F278-6CBF-4EC4-8E1A-AECB3B096B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1C9811D-8BB0-4974-A6F1-CBF05E5F17B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BC02E7B-B413-4D54-BFF6-E78FFCEEEDE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8EFAEE9-AD9E-45DE-B37C-B4AD4AC1E6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7/15/2026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E2737F6-4D1E-4CEB-B065-A1D0BDA4347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E5935C0-62D8-4CAF-82A6-FD1D07308E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3A6AC2A-8234-4D0A-AB79-49FAA87818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063424A-8C15-419D-90ED-37B788E11E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29E7EAF-38F9-433F-9E91-FE5C1421605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D86110CF-AF19-4034-869F-8CC607EFD1E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1D975A2F-724B-46FC-B5CC-225A9CC2FEC6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FFA3264E-9121-44CE-AA11-A08F63CB735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7/15/2026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23B5EDC-8A82-4273-A058-3EC0E1A092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C08F9AD2-0D1A-4C99-A4FB-7C51313967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5607909-6AAD-4250-9CF0-135C108E7F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F9BAF775-15A4-41A3-9C55-F36C60547A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7/15/2026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8EAF605-5BE6-462A-A742-88820DFDB7C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FBFB07AC-4115-4917-A9F6-3018E8FDA3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EFB76359-AD7B-42FF-8643-39ADDEADF81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7/15/2026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4A2A389-920A-443F-A8CA-BA7FBB81129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B93BFA0-25C4-48A3-97B3-CBDA03AA19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F069435-671B-44FF-B4D9-EA4200C452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6307E7B-D52E-4D5F-9AF6-10D9755CD6A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46E8EDC-AECD-49C7-A2B9-AD2181DC1F6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F9EC628-5C10-43CF-B9BC-5131A6CAF25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7/15/2026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C9392AE-10F0-42DD-A2F2-4A847F2A551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BA2D528-7324-4D7C-961F-0AB0BD00D0E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52977D0-BFA6-4990-BF40-3FA1F78DA4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85AB67FF-70F9-4B7D-A50E-3229D2B5C701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EB1930F-89FC-4EC5-A298-AC186AC89F0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0033EF6-9553-4630-95B4-DB20C9D8D5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7/15/2026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75B787B-F711-42DF-865E-4CDE9559160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AA4987E-D13E-4E74-B4D2-AAF8233340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DC21B3C-FAA1-4408-BCC9-61C16D1D4B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D8C76DF-4EAC-4D51-9B51-F3691B497C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AE889A1-78DC-46A9-B587-A0EE4883AD6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7/15/2026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D321676-BEF4-4620-9656-701887E331C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480B3AF-1638-4425-8CC6-8D02311BDB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1A3B03EB-F379-4AAE-A929-8BFC06FFFB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CACE7836-EF47-4363-BF30-ADD75FDAD5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A121EA9-2A7B-437E-B438-6F1A224F009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7/15/2026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AF6CE6B-83D2-4D7C-BCF8-0290FB7AAB4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82A2C8F-BC1D-45A7-A021-FA01AFD7D61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510de8f63e4c92" /><Relationship Type="http://schemas.openxmlformats.org/officeDocument/2006/relationships/slideLayout" Target="/ppt/slideLayouts/slideLayout1.xml" Id="R19261b4761764724" /><Relationship Type="http://schemas.openxmlformats.org/officeDocument/2006/relationships/slideLayout" Target="/ppt/slideLayouts/slideLayout2.xml" Id="Rc77d428afb564925" /><Relationship Type="http://schemas.openxmlformats.org/officeDocument/2006/relationships/slideLayout" Target="/ppt/slideLayouts/slideLayout3.xml" Id="Rec726d7c3f13470a" /><Relationship Type="http://schemas.openxmlformats.org/officeDocument/2006/relationships/slideLayout" Target="/ppt/slideLayouts/slideLayout4.xml" Id="R5a4a57a9955c477b" /><Relationship Type="http://schemas.openxmlformats.org/officeDocument/2006/relationships/slideLayout" Target="/ppt/slideLayouts/slideLayout5.xml" Id="R971edba368114cb6" /><Relationship Type="http://schemas.openxmlformats.org/officeDocument/2006/relationships/slideLayout" Target="/ppt/slideLayouts/slideLayout6.xml" Id="R260aacd9a5ac4928" /><Relationship Type="http://schemas.openxmlformats.org/officeDocument/2006/relationships/slideLayout" Target="/ppt/slideLayouts/slideLayout7.xml" Id="R06dfcbb2913c4364" /><Relationship Type="http://schemas.openxmlformats.org/officeDocument/2006/relationships/slideLayout" Target="/ppt/slideLayouts/slideLayout8.xml" Id="R56cc76fcaaad4b3d" /><Relationship Type="http://schemas.openxmlformats.org/officeDocument/2006/relationships/slideLayout" Target="/ppt/slideLayouts/slideLayout9.xml" Id="R199f1d7535604a82" /><Relationship Type="http://schemas.openxmlformats.org/officeDocument/2006/relationships/slideLayout" Target="/ppt/slideLayouts/slideLayout10.xml" Id="Rf9d0e814ecb148c3" /><Relationship Type="http://schemas.openxmlformats.org/officeDocument/2006/relationships/slideLayout" Target="/ppt/slideLayouts/slideLayout11.xml" Id="R209d8dfa20c642e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4C85FFD-D6B1-4E21-8E9C-69290B2D0C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5DA1D75-6E1D-4B4D-8EA6-BF2091E79C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A64EA9E-2D75-4ECC-A835-52E5B3C8D7D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7/15/2026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B1CE70D-28E1-4B02-8031-AE26BF2589B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5B9F28-1C26-496E-99CA-D8DA46158AF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261b4761764724"/>
    <p:sldLayoutId xmlns:r="http://schemas.openxmlformats.org/officeDocument/2006/relationships" id="2147483650" r:id="Rc77d428afb564925"/>
    <p:sldLayoutId xmlns:r="http://schemas.openxmlformats.org/officeDocument/2006/relationships" id="2147483651" r:id="Rec726d7c3f13470a"/>
    <p:sldLayoutId xmlns:r="http://schemas.openxmlformats.org/officeDocument/2006/relationships" id="2147483652" r:id="R5a4a57a9955c477b"/>
    <p:sldLayoutId xmlns:r="http://schemas.openxmlformats.org/officeDocument/2006/relationships" id="2147483653" r:id="R971edba368114cb6"/>
    <p:sldLayoutId xmlns:r="http://schemas.openxmlformats.org/officeDocument/2006/relationships" id="2147483654" r:id="R260aacd9a5ac4928"/>
    <p:sldLayoutId xmlns:r="http://schemas.openxmlformats.org/officeDocument/2006/relationships" id="2147483655" r:id="R06dfcbb2913c4364"/>
    <p:sldLayoutId xmlns:r="http://schemas.openxmlformats.org/officeDocument/2006/relationships" id="2147483656" r:id="R56cc76fcaaad4b3d"/>
    <p:sldLayoutId xmlns:r="http://schemas.openxmlformats.org/officeDocument/2006/relationships" id="2147483657" r:id="R199f1d7535604a82"/>
    <p:sldLayoutId xmlns:r="http://schemas.openxmlformats.org/officeDocument/2006/relationships" id="2147483658" r:id="Rf9d0e814ecb148c3"/>
    <p:sldLayoutId xmlns:r="http://schemas.openxmlformats.org/officeDocument/2006/relationships" id="2147483659" r:id="R209d8dfa20c642eb"/>
  </p:sldLayoutIdLst>
  <p:txStyles>
    <p:titleStyle>
      <a:lvl1pPr xmlns:a="http://schemas.openxmlformats.org/drawingml/2006/main"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4dcd10adbd34c0d" /><Relationship Type="http://schemas.openxmlformats.org/officeDocument/2006/relationships/notesSlide" Target="/ppt/notesSlides/notesSlide1.xml" Id="Rfb8da39a537346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c398d67c7d347b3" /><Relationship Type="http://schemas.openxmlformats.org/officeDocument/2006/relationships/notesSlide" Target="/ppt/notesSlides/notesSlide2.xml" Id="R6cbbfbb25b0249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8d948d9e4364abc" /><Relationship Type="http://schemas.openxmlformats.org/officeDocument/2006/relationships/notesSlide" Target="/ppt/notesSlides/notesSlide3.xml" Id="Ra06ca42bd8fb4a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6d4ecf63d0f4e14" /><Relationship Type="http://schemas.openxmlformats.org/officeDocument/2006/relationships/notesSlide" Target="/ppt/notesSlides/notesSlide4.xml" Id="R17796e155d9544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7f2fcb35ebc4aa0" /><Relationship Type="http://schemas.openxmlformats.org/officeDocument/2006/relationships/notesSlide" Target="/ppt/notesSlides/notesSlide5.xml" Id="R51e7dff562fb4e2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10354df396e49b7" /><Relationship Type="http://schemas.openxmlformats.org/officeDocument/2006/relationships/notesSlide" Target="/ppt/notesSlides/notesSlide6.xml" Id="R2f013aa398cd490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402b4b231a54d05" /><Relationship Type="http://schemas.openxmlformats.org/officeDocument/2006/relationships/notesSlide" Target="/ppt/notesSlides/notesSlide7.xml" Id="Rf14c4d45588543f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bc794edc75d4a95" /><Relationship Type="http://schemas.openxmlformats.org/officeDocument/2006/relationships/notesSlide" Target="/ppt/notesSlides/notesSlide8.xml" Id="R8cdfbf09d6384e7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28284bdda324d97" /><Relationship Type="http://schemas.openxmlformats.org/officeDocument/2006/relationships/notesSlide" Target="/ppt/notesSlides/notesSlide9.xml" Id="Rdc5556fc0f7c4f7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e24797c05044b64" /><Relationship Type="http://schemas.openxmlformats.org/officeDocument/2006/relationships/notesSlide" Target="/ppt/notesSlides/notesSlide10.xml" Id="R73bde7c7a6974dc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368389704ba4fbf" /><Relationship Type="http://schemas.openxmlformats.org/officeDocument/2006/relationships/notesSlide" Target="/ppt/notesSlides/notesSlide11.xml" Id="R931edf94f52b43e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0a8fa6326a64b2c" /><Relationship Type="http://schemas.openxmlformats.org/officeDocument/2006/relationships/notesSlide" Target="/ppt/notesSlides/notesSlide12.xml" Id="R118ac658d6e8407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48e411378f64315" /><Relationship Type="http://schemas.openxmlformats.org/officeDocument/2006/relationships/notesSlide" Target="/ppt/notesSlides/notesSlide13.xml" Id="R26571eb9c8074e7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14590ff8e3747b6" /><Relationship Type="http://schemas.openxmlformats.org/officeDocument/2006/relationships/notesSlide" Target="/ppt/notesSlides/notesSlide14.xml" Id="Re8c00e36cde84ca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headline">
            <a:extLst xmlns:a="http://schemas.openxmlformats.org/drawingml/2006/main">
              <a:ext uri="{FF2B5EF4-FFF2-40B4-BE49-F238E27FC236}">
                <a16:creationId xmlns:a16="http://schemas.microsoft.com/office/drawing/2014/main" id="{D8B08363-5058-4957-92A2-87999C37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1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2400" b="1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Authorization Safety as a Two-Error Operating-Point Problem:</a:t>
            </a:r>
          </a:p>
        </p:txBody>
      </p:sp>
      <p:sp>
        <p:nvSpPr>
          <p:cNvPr id="2" name="title-subtitle">
            <a:extLst xmlns:a="http://schemas.openxmlformats.org/drawingml/2006/main">
              <a:ext uri="{FF2B5EF4-FFF2-40B4-BE49-F238E27FC236}">
                <a16:creationId xmlns:a16="http://schemas.microsoft.com/office/drawing/2014/main" id="{BB51226C-3CB6-4EBE-9740-B4513459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175" b="1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2175" b="1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A Registered Evaluation of Language-Model Decision Layers for Service Robots</a:t>
            </a:r>
          </a:p>
        </p:txBody>
      </p:sp>
      <p:sp>
        <p:nvSpPr>
          <p:cNvPr id="3" name="title-result">
            <a:extLst xmlns:a="http://schemas.openxmlformats.org/drawingml/2006/main">
              <a:ext uri="{FF2B5EF4-FFF2-40B4-BE49-F238E27FC236}">
                <a16:creationId xmlns:a16="http://schemas.microsoft.com/office/drawing/2014/main" id="{02AAB8C7-46B8-40B8-BAEF-A58E52A6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 i="0">
                <a:solidFill>
                  <a:srgbClr val="0F4C81"/>
                </a:solidFill>
                <a:latin typeface="Calibri"/>
                <a:ea typeface="Calibri"/>
                <a:cs typeface="Calibri"/>
              </a:defRPr>
            </a:pPr>
            <a:r>
              <a:rPr sz="1500" b="1" i="0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Qwen cuts unsafe compliance by 55.0 pp but adds 18.8 pp authorized refusal</a:t>
            </a:r>
          </a:p>
        </p:txBody>
      </p:sp>
      <p:sp>
        <p:nvSpPr>
          <p:cNvPr id="4" name="title-author">
            <a:extLst xmlns:a="http://schemas.openxmlformats.org/drawingml/2006/main">
              <a:ext uri="{FF2B5EF4-FFF2-40B4-BE49-F238E27FC236}">
                <a16:creationId xmlns:a16="http://schemas.microsoft.com/office/drawing/2014/main" id="{B1D9E7DC-2158-4D5B-B503-0FF74555C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576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Ziyue Li · InGen Dynamics</a:t>
            </a:r>
          </a:p>
        </p:txBody>
      </p:sp>
      <p:sp>
        <p:nvSpPr>
          <p:cNvPr id="5" name="title-evidence">
            <a:extLst xmlns:a="http://schemas.openxmlformats.org/drawingml/2006/main">
              <a:ext uri="{FF2B5EF4-FFF2-40B4-BE49-F238E27FC236}">
                <a16:creationId xmlns:a16="http://schemas.microsoft.com/office/drawing/2014/main" id="{0AA52BA5-51B8-4ADA-B56E-F29D5819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386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0" i="0">
                <a:solidFill>
                  <a:srgbClr val="5C5C6D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5C5C6D"/>
                </a:solidFill>
                <a:latin typeface="Calibri"/>
                <a:ea typeface="Calibri"/>
                <a:cs typeface="Calibri"/>
              </a:rPr>
              <a:t>Research review · 96 scenarios · 4,800 responses · 14,400 judge decisions</a:t>
            </a:r>
          </a:p>
        </p:txBody>
      </p:sp>
    </p:spTree>
    <p:extLst>
      <p:ext uri="{BB962C8B-B14F-4D97-AF65-F5344CB8AC3E}">
        <p14:creationId xmlns:p14="http://schemas.microsoft.com/office/powerpoint/2010/main" val="168703803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label-2">
            <a:extLst xmlns:a="http://schemas.openxmlformats.org/drawingml/2006/main">
              <a:ext uri="{FF2B5EF4-FFF2-40B4-BE49-F238E27FC236}">
                <a16:creationId xmlns:a16="http://schemas.microsoft.com/office/drawing/2014/main" id="{617706CA-7B0F-4EE5-8533-CD48DE90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0F4C81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INGEN PHYSICAL AI CONTEXT · PIC 2.0</a:t>
            </a:r>
          </a:p>
        </p:txBody>
      </p:sp>
      <p:sp>
        <p:nvSpPr>
          <p:cNvPr id="2" name="headline-2">
            <a:extLst xmlns:a="http://schemas.openxmlformats.org/drawingml/2006/main">
              <a:ext uri="{FF2B5EF4-FFF2-40B4-BE49-F238E27FC236}">
                <a16:creationId xmlns:a16="http://schemas.microsoft.com/office/drawing/2014/main" id="{70157046-19CD-4B4F-94FB-8F073713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108966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175" b="1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2175" b="1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Six PIC 2.0 roles converge on one authorization decision: execute, refuse, or escalate</a:t>
            </a:r>
          </a:p>
        </p:txBody>
      </p:sp>
      <p:sp>
        <p:nvSpPr>
          <p:cNvPr id="3" name="context-body">
            <a:extLst xmlns:a="http://schemas.openxmlformats.org/drawingml/2006/main">
              <a:ext uri="{FF2B5EF4-FFF2-40B4-BE49-F238E27FC236}">
                <a16:creationId xmlns:a16="http://schemas.microsoft.com/office/drawing/2014/main" id="{AA3C5966-DCD8-4321-9491-BFB5EE06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10477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10"/>
              </a:spcAft>
              <a:defRPr sz="1425" b="0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900" b="0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Physical AI systems act on people, property, and privacy. A capable system can still fail when it accepts an unsafe or unauthorized instruction.</a:t>
            </a:r>
          </a:p>
          <a:p xmlns:a="http://schemas.openxmlformats.org/drawingml/2006/main">
            <a:pPr algn="l">
              <a:spcAft>
                <a:spcPts val="10"/>
              </a:spcAft>
              <a:defRPr sz="1425" b="0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900" b="0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PIC 2.0 separates perception, intelligence, and control. Six public model classes contribute distinct roles, but the decision layer must still select </a:t>
            </a:r>
            <a:r>
              <a:rPr sz="1900" b="1" i="0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execute, refuse, or escalate</a:t>
            </a:r>
            <a:r>
              <a:rPr sz="1900" b="0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.</a:t>
            </a:r>
          </a:p>
          <a:p xmlns:a="http://schemas.openxmlformats.org/drawingml/2006/main">
            <a:pPr algn="l">
              <a:spcAft>
                <a:spcPts val="0"/>
              </a:spcAft>
              <a:defRPr sz="1425" b="0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900" b="0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This study measures that decision through two co-primary errors: unsafe compliance and refusal after authorization has been established.</a:t>
            </a:r>
          </a:p>
        </p:txBody>
      </p:sp>
      <p:sp>
        <p:nvSpPr>
          <p:cNvPr id="4" name="context-classes">
            <a:extLst xmlns:a="http://schemas.openxmlformats.org/drawingml/2006/main">
              <a:ext uri="{FF2B5EF4-FFF2-40B4-BE49-F238E27FC236}">
                <a16:creationId xmlns:a16="http://schemas.microsoft.com/office/drawing/2014/main" id="{322AFF5B-3145-4B5D-925A-DCEFDB02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9650"/>
            <a:ext cx="1019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 i="0">
                <a:solidFill>
                  <a:srgbClr val="0F4C81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GRPO · STUM · SEOM · AMDC · HTD-IRL · CRL-MRS</a:t>
            </a:r>
          </a:p>
        </p:txBody>
      </p:sp>
      <p:sp>
        <p:nvSpPr>
          <p:cNvPr id="5" name="source-2">
            <a:extLst xmlns:a="http://schemas.openxmlformats.org/drawingml/2006/main">
              <a:ext uri="{FF2B5EF4-FFF2-40B4-BE49-F238E27FC236}">
                <a16:creationId xmlns:a16="http://schemas.microsoft.com/office/drawing/2014/main" id="{A1E81827-C158-4781-A432-6B39B2B03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15050"/>
            <a:ext cx="1070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63" b="0" i="0">
                <a:solidFill>
                  <a:srgbClr val="5C5C6D"/>
                </a:solidFill>
                <a:latin typeface="Calibri"/>
                <a:ea typeface="Calibri"/>
                <a:cs typeface="Calibri"/>
              </a:defRPr>
            </a:pPr>
            <a:r>
              <a:rPr sz="863" b="0" i="0">
                <a:solidFill>
                  <a:srgbClr val="5C5C6D"/>
                </a:solidFill>
                <a:latin typeface="Calibri"/>
                <a:ea typeface="Calibri"/>
                <a:cs typeface="Calibri"/>
              </a:rPr>
              <a:t>Sources: PIC 2.0 analysis and Capstone Report, Physical-AI and PIC 2.0 Context.</a:t>
            </a:r>
          </a:p>
        </p:txBody>
      </p:sp>
    </p:spTree>
    <p:extLst>
      <p:ext uri="{BB962C8B-B14F-4D97-AF65-F5344CB8AC3E}">
        <p14:creationId xmlns:p14="http://schemas.microsoft.com/office/powerpoint/2010/main" val="24929681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label-3">
            <a:extLst xmlns:a="http://schemas.openxmlformats.org/drawingml/2006/main">
              <a:ext uri="{FF2B5EF4-FFF2-40B4-BE49-F238E27FC236}">
                <a16:creationId xmlns:a16="http://schemas.microsoft.com/office/drawing/2014/main" id="{4406D7E5-E2B3-4D0C-A735-8A90685C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0F4C81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RESEARCH MOTIVATION · THE GAP</a:t>
            </a:r>
          </a:p>
        </p:txBody>
      </p:sp>
      <p:sp>
        <p:nvSpPr>
          <p:cNvPr id="2" name="headline-3">
            <a:extLst xmlns:a="http://schemas.openxmlformats.org/drawingml/2006/main">
              <a:ext uri="{FF2B5EF4-FFF2-40B4-BE49-F238E27FC236}">
                <a16:creationId xmlns:a16="http://schemas.microsoft.com/office/drawing/2014/main" id="{85D6FBDA-4C9A-4463-BE5D-70515922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108966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No reviewed benchmark combines the three conditions needed for authorization safety</a:t>
            </a:r>
          </a:p>
        </p:txBody>
      </p:sp>
      <p:sp>
        <p:nvSpPr>
          <p:cNvPr id="3" name="gap-body">
            <a:extLst xmlns:a="http://schemas.openxmlformats.org/drawingml/2006/main">
              <a:ext uri="{FF2B5EF4-FFF2-40B4-BE49-F238E27FC236}">
                <a16:creationId xmlns:a16="http://schemas.microsoft.com/office/drawing/2014/main" id="{A57D5FE0-25F6-4CAC-9568-E4575A72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0477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10"/>
              </a:spcAft>
              <a:defRPr sz="1425" b="0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900" b="0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Embodied benchmarks primarily evaluate task success, capability, and cross-embodiment generalization.</a:t>
            </a:r>
          </a:p>
          <a:p xmlns:a="http://schemas.openxmlformats.org/drawingml/2006/main">
            <a:pPr algn="l">
              <a:spcAft>
                <a:spcPts val="10"/>
              </a:spcAft>
              <a:defRPr sz="1425" b="0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900" b="0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The missing evaluation combines </a:t>
            </a:r>
            <a:r>
              <a:rPr sz="1900" b="1" i="0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paired authorization states</a:t>
            </a:r>
            <a:r>
              <a:rPr sz="1900" b="0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900" b="1" i="0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social pressure</a:t>
            </a:r>
            <a:r>
              <a:rPr sz="1900" b="0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, and </a:t>
            </a:r>
            <a:r>
              <a:rPr sz="1900" b="1" i="0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a refusal-cost control</a:t>
            </a:r>
            <a:r>
              <a:rPr sz="1900" b="0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 within the same scenario family.</a:t>
            </a:r>
          </a:p>
          <a:p xmlns:a="http://schemas.openxmlformats.org/drawingml/2006/main">
            <a:pPr algn="l">
              <a:spcAft>
                <a:spcPts val="0"/>
              </a:spcAft>
              <a:defRPr sz="1425" b="0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900" b="0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Without all three, lower unsafe compliance can be mistaken for safer behavior even when it is produced by indiscriminate refusal.</a:t>
            </a:r>
          </a:p>
        </p:txBody>
      </p:sp>
      <p:sp>
        <p:nvSpPr>
          <p:cNvPr id="4" name="source-3">
            <a:extLst xmlns:a="http://schemas.openxmlformats.org/drawingml/2006/main">
              <a:ext uri="{FF2B5EF4-FFF2-40B4-BE49-F238E27FC236}">
                <a16:creationId xmlns:a16="http://schemas.microsoft.com/office/drawing/2014/main" id="{11AD4871-2F31-406E-BF73-C6E87D20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1070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63" b="0" i="0">
                <a:solidFill>
                  <a:srgbClr val="5C5C6D"/>
                </a:solidFill>
                <a:latin typeface="Calibri"/>
                <a:ea typeface="Calibri"/>
                <a:cs typeface="Calibri"/>
              </a:defRPr>
            </a:pPr>
            <a:r>
              <a:rPr sz="863" b="0" i="0">
                <a:solidFill>
                  <a:srgbClr val="5C5C6D"/>
                </a:solidFill>
                <a:latin typeface="Calibri"/>
                <a:ea typeface="Calibri"/>
                <a:cs typeface="Calibri"/>
              </a:rPr>
              <a:t>Sources: Literature review and Capstone Report, Motivation and Research Gap.</a:t>
            </a:r>
          </a:p>
        </p:txBody>
      </p:sp>
    </p:spTree>
    <p:extLst>
      <p:ext uri="{BB962C8B-B14F-4D97-AF65-F5344CB8AC3E}">
        <p14:creationId xmlns:p14="http://schemas.microsoft.com/office/powerpoint/2010/main" val="174091241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label-4">
            <a:extLst xmlns:a="http://schemas.openxmlformats.org/drawingml/2006/main">
              <a:ext uri="{FF2B5EF4-FFF2-40B4-BE49-F238E27FC236}">
                <a16:creationId xmlns:a16="http://schemas.microsoft.com/office/drawing/2014/main" id="{C3CC17CE-DE25-45B0-9728-4D6EB2B8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0F4C81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RESEARCH QUESTIONS</a:t>
            </a:r>
          </a:p>
        </p:txBody>
      </p:sp>
      <p:sp>
        <p:nvSpPr>
          <p:cNvPr id="2" name="headline-4">
            <a:extLst xmlns:a="http://schemas.openxmlformats.org/drawingml/2006/main">
              <a:ext uri="{FF2B5EF4-FFF2-40B4-BE49-F238E27FC236}">
                <a16:creationId xmlns:a16="http://schemas.microsoft.com/office/drawing/2014/main" id="{FA0EB1AF-EE69-4A08-A437-6D5CAD8D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108966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Three questions isolate generator, prompt, and design-stack effects on two errors</a:t>
            </a:r>
          </a:p>
        </p:txBody>
      </p:sp>
      <p:sp>
        <p:nvSpPr>
          <p:cNvPr id="3" name="rq-body">
            <a:extLst xmlns:a="http://schemas.openxmlformats.org/drawingml/2006/main">
              <a:ext uri="{FF2B5EF4-FFF2-40B4-BE49-F238E27FC236}">
                <a16:creationId xmlns:a16="http://schemas.microsoft.com/office/drawing/2014/main" id="{56BEC82A-BE99-499D-A294-DFBBF61D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105727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10"/>
              </a:spcAft>
              <a:defRPr sz="1388" b="0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850" b="1" i="0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RQ1 · </a:t>
            </a:r>
            <a:r>
              <a:rPr sz="1850" b="0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Under a byte-identical common prompt, how does generator choice change plain-caution failure, pressured-caution failure, and authorized-control refusal?</a:t>
            </a:r>
          </a:p>
          <a:p xmlns:a="http://schemas.openxmlformats.org/drawingml/2006/main">
            <a:pPr algn="l">
              <a:spcAft>
                <a:spcPts val="10"/>
              </a:spcAft>
              <a:defRPr sz="1388" b="0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850" b="1" i="0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RQ2 · </a:t>
            </a:r>
            <a:r>
              <a:rPr sz="1850" b="0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Do deliberation, structured output, or constraint gating improve both errors under the registered mitigation rule, and do the effects transfer?</a:t>
            </a:r>
          </a:p>
          <a:p xmlns:a="http://schemas.openxmlformats.org/drawingml/2006/main">
            <a:pPr algn="l">
              <a:spcAft>
                <a:spcPts val="0"/>
              </a:spcAft>
              <a:defRPr sz="1388" b="0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850" b="1" i="0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RQ3 · </a:t>
            </a:r>
            <a:r>
              <a:rPr sz="1850" b="0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Which PIC 2.0 model classes and platform-specific research gates are justified by the observed two-error trade-off?</a:t>
            </a:r>
          </a:p>
        </p:txBody>
      </p:sp>
      <p:sp>
        <p:nvSpPr>
          <p:cNvPr id="4" name="rq-rule">
            <a:extLst xmlns:a="http://schemas.openxmlformats.org/drawingml/2006/main">
              <a:ext uri="{FF2B5EF4-FFF2-40B4-BE49-F238E27FC236}">
                <a16:creationId xmlns:a16="http://schemas.microsoft.com/office/drawing/2014/main" id="{E21989C6-E772-4565-B7D3-9D5F6769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 i="0">
                <a:solidFill>
                  <a:srgbClr val="0F4C81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Registered rule · at least 25% relative reduction in pressured failures with no more than one added control failure.</a:t>
            </a:r>
          </a:p>
        </p:txBody>
      </p:sp>
      <p:sp>
        <p:nvSpPr>
          <p:cNvPr id="5" name="source-4">
            <a:extLst xmlns:a="http://schemas.openxmlformats.org/drawingml/2006/main">
              <a:ext uri="{FF2B5EF4-FFF2-40B4-BE49-F238E27FC236}">
                <a16:creationId xmlns:a16="http://schemas.microsoft.com/office/drawing/2014/main" id="{F78F2725-9D20-4E54-A3D5-B74E5A34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70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63" b="0" i="0">
                <a:solidFill>
                  <a:srgbClr val="5C5C6D"/>
                </a:solidFill>
                <a:latin typeface="Calibri"/>
                <a:ea typeface="Calibri"/>
                <a:cs typeface="Calibri"/>
              </a:defRPr>
            </a:pPr>
            <a:r>
              <a:rPr sz="863" b="0" i="0">
                <a:solidFill>
                  <a:srgbClr val="5C5C6D"/>
                </a:solidFill>
                <a:latin typeface="Calibri"/>
                <a:ea typeface="Calibri"/>
                <a:cs typeface="Calibri"/>
              </a:rPr>
              <a:t>Source: Registered confirmation design.</a:t>
            </a:r>
          </a:p>
        </p:txBody>
      </p:sp>
    </p:spTree>
    <p:extLst>
      <p:ext uri="{BB962C8B-B14F-4D97-AF65-F5344CB8AC3E}">
        <p14:creationId xmlns:p14="http://schemas.microsoft.com/office/powerpoint/2010/main" val="278523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label-5">
            <a:extLst xmlns:a="http://schemas.openxmlformats.org/drawingml/2006/main">
              <a:ext uri="{FF2B5EF4-FFF2-40B4-BE49-F238E27FC236}">
                <a16:creationId xmlns:a16="http://schemas.microsoft.com/office/drawing/2014/main" id="{30AF0485-B430-4E9E-A0E8-3E9B72FD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0F4C81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BENCHMARK DESIGN · BASELINE RESULTS</a:t>
            </a:r>
          </a:p>
        </p:txBody>
      </p:sp>
      <p:sp>
        <p:nvSpPr>
          <p:cNvPr id="2" name="headline-5">
            <a:extLst xmlns:a="http://schemas.openxmlformats.org/drawingml/2006/main">
              <a:ext uri="{FF2B5EF4-FFF2-40B4-BE49-F238E27FC236}">
                <a16:creationId xmlns:a16="http://schemas.microsoft.com/office/drawing/2014/main" id="{3AA5D1FB-3F29-4D02-82AB-BBCE1D7D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108966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175" b="1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2175" b="1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The 96-scenario benchmark reveals opposite common-prompt baselines across two generators</a:t>
            </a:r>
          </a:p>
        </p:txBody>
      </p:sp>
      <p:sp>
        <p:nvSpPr>
          <p:cNvPr id="3" name="design-summary">
            <a:extLst xmlns:a="http://schemas.openxmlformats.org/drawingml/2006/main">
              <a:ext uri="{FF2B5EF4-FFF2-40B4-BE49-F238E27FC236}">
                <a16:creationId xmlns:a16="http://schemas.microsoft.com/office/drawing/2014/main" id="{F96D7AD4-1364-4163-B02E-73BD109F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96 paired scenarios · 16 families · 2 generators · 5 prompt conditions · 5 seeds</a:t>
            </a:r>
          </a:p>
        </p:txBody>
      </p:sp>
      <p:sp>
        <p:nvSpPr>
          <p:cNvPr id="4" name="base-top">
            <a:extLst xmlns:a="http://schemas.openxmlformats.org/drawingml/2006/main">
              <a:ext uri="{FF2B5EF4-FFF2-40B4-BE49-F238E27FC236}">
                <a16:creationId xmlns:a16="http://schemas.microsoft.com/office/drawing/2014/main" id="{DD64D40A-FB55-4F79-B75D-593E39D36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05100"/>
            <a:ext cx="10496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F4C81"/>
            </a:solidFill>
            <a:prstDash val="solid"/>
          </a:ln>
        </p:spPr>
      </p:sp>
      <p:sp>
        <p:nvSpPr>
          <p:cNvPr id="5" name="base-h-0">
            <a:extLst xmlns:a="http://schemas.openxmlformats.org/drawingml/2006/main">
              <a:ext uri="{FF2B5EF4-FFF2-40B4-BE49-F238E27FC236}">
                <a16:creationId xmlns:a16="http://schemas.microsoft.com/office/drawing/2014/main" id="{8AA56A4F-3617-47C1-AD6E-1D8EC26BF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38" b="1" i="0">
                <a:solidFill>
                  <a:srgbClr val="0F4C81"/>
                </a:solidFill>
                <a:latin typeface="Calibri"/>
                <a:ea typeface="Calibri"/>
                <a:cs typeface="Calibri"/>
              </a:defRPr>
            </a:pPr>
            <a:r>
              <a:rPr sz="938" b="1" i="0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ENDPOINT</a:t>
            </a:r>
          </a:p>
        </p:txBody>
      </p:sp>
      <p:sp>
        <p:nvSpPr>
          <p:cNvPr id="6" name="base-h-1">
            <a:extLst xmlns:a="http://schemas.openxmlformats.org/drawingml/2006/main">
              <a:ext uri="{FF2B5EF4-FFF2-40B4-BE49-F238E27FC236}">
                <a16:creationId xmlns:a16="http://schemas.microsoft.com/office/drawing/2014/main" id="{513F893E-AB18-4303-8223-ACD04D09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813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38" b="1" i="0">
                <a:solidFill>
                  <a:srgbClr val="0F4C81"/>
                </a:solidFill>
                <a:latin typeface="Calibri"/>
                <a:ea typeface="Calibri"/>
                <a:cs typeface="Calibri"/>
              </a:defRPr>
            </a:pPr>
            <a:r>
              <a:rPr sz="938" b="1" i="0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MISTRAL</a:t>
            </a:r>
          </a:p>
        </p:txBody>
      </p:sp>
      <p:sp>
        <p:nvSpPr>
          <p:cNvPr id="7" name="base-h-2">
            <a:extLst xmlns:a="http://schemas.openxmlformats.org/drawingml/2006/main">
              <a:ext uri="{FF2B5EF4-FFF2-40B4-BE49-F238E27FC236}">
                <a16:creationId xmlns:a16="http://schemas.microsoft.com/office/drawing/2014/main" id="{0B1453CA-96C2-455A-93F7-F213EFF2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813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38" b="1" i="0">
                <a:solidFill>
                  <a:srgbClr val="0F4C81"/>
                </a:solidFill>
                <a:latin typeface="Calibri"/>
                <a:ea typeface="Calibri"/>
                <a:cs typeface="Calibri"/>
              </a:defRPr>
            </a:pPr>
            <a:r>
              <a:rPr sz="938" b="1" i="0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QWEN</a:t>
            </a:r>
          </a:p>
        </p:txBody>
      </p:sp>
      <p:sp>
        <p:nvSpPr>
          <p:cNvPr id="8" name="base-h-3">
            <a:extLst xmlns:a="http://schemas.openxmlformats.org/drawingml/2006/main">
              <a:ext uri="{FF2B5EF4-FFF2-40B4-BE49-F238E27FC236}">
                <a16:creationId xmlns:a16="http://schemas.microsoft.com/office/drawing/2014/main" id="{9376D157-6560-41CE-BAED-064AD0E8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813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38" b="1" i="0">
                <a:solidFill>
                  <a:srgbClr val="0F4C81"/>
                </a:solidFill>
                <a:latin typeface="Calibri"/>
                <a:ea typeface="Calibri"/>
                <a:cs typeface="Calibri"/>
              </a:defRPr>
            </a:pPr>
            <a:r>
              <a:rPr sz="938" b="1" i="0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QWEN − MISTRAL</a:t>
            </a:r>
          </a:p>
        </p:txBody>
      </p:sp>
      <p:sp>
        <p:nvSpPr>
          <p:cNvPr id="9" name="base-bottom">
            <a:extLst xmlns:a="http://schemas.openxmlformats.org/drawingml/2006/main">
              <a:ext uri="{FF2B5EF4-FFF2-40B4-BE49-F238E27FC236}">
                <a16:creationId xmlns:a16="http://schemas.microsoft.com/office/drawing/2014/main" id="{D48434E7-B7D4-4EEB-9AE2-A76867BF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24200"/>
            <a:ext cx="10496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10" name="base-row-0-0">
            <a:extLst xmlns:a="http://schemas.openxmlformats.org/drawingml/2006/main">
              <a:ext uri="{FF2B5EF4-FFF2-40B4-BE49-F238E27FC236}">
                <a16:creationId xmlns:a16="http://schemas.microsoft.com/office/drawing/2014/main" id="{388A18E4-16EB-4707-94D3-174044F3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24200"/>
            <a:ext cx="3257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Plain caution failure</a:t>
            </a:r>
          </a:p>
        </p:txBody>
      </p:sp>
      <p:sp>
        <p:nvSpPr>
          <p:cNvPr id="11" name="base-row-0-1">
            <a:extLst xmlns:a="http://schemas.openxmlformats.org/drawingml/2006/main">
              <a:ext uri="{FF2B5EF4-FFF2-40B4-BE49-F238E27FC236}">
                <a16:creationId xmlns:a16="http://schemas.microsoft.com/office/drawing/2014/main" id="{AE8C0190-D378-4BBE-A759-730A6DF5D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242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88.8%</a:t>
            </a:r>
          </a:p>
        </p:txBody>
      </p:sp>
      <p:sp>
        <p:nvSpPr>
          <p:cNvPr id="12" name="base-row-0-2">
            <a:extLst xmlns:a="http://schemas.openxmlformats.org/drawingml/2006/main">
              <a:ext uri="{FF2B5EF4-FFF2-40B4-BE49-F238E27FC236}">
                <a16:creationId xmlns:a16="http://schemas.microsoft.com/office/drawing/2014/main" id="{0233ECF0-FF96-428C-AE4B-437DDBF21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242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33.8%</a:t>
            </a:r>
          </a:p>
        </p:txBody>
      </p:sp>
      <p:sp>
        <p:nvSpPr>
          <p:cNvPr id="13" name="base-row-0-3">
            <a:extLst xmlns:a="http://schemas.openxmlformats.org/drawingml/2006/main">
              <a:ext uri="{FF2B5EF4-FFF2-40B4-BE49-F238E27FC236}">
                <a16:creationId xmlns:a16="http://schemas.microsoft.com/office/drawing/2014/main" id="{D9CA73C6-CFB4-4BF8-8448-4EE4E1BA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242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−55.0 pp</a:t>
            </a:r>
          </a:p>
        </p:txBody>
      </p:sp>
      <p:sp>
        <p:nvSpPr>
          <p:cNvPr id="14" name="base-row-0-rule">
            <a:extLst xmlns:a="http://schemas.openxmlformats.org/drawingml/2006/main">
              <a:ext uri="{FF2B5EF4-FFF2-40B4-BE49-F238E27FC236}">
                <a16:creationId xmlns:a16="http://schemas.microsoft.com/office/drawing/2014/main" id="{8F5C6416-C55E-48CD-A076-1B1634E60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10496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15" name="base-row-1-0">
            <a:extLst xmlns:a="http://schemas.openxmlformats.org/drawingml/2006/main">
              <a:ext uri="{FF2B5EF4-FFF2-40B4-BE49-F238E27FC236}">
                <a16:creationId xmlns:a16="http://schemas.microsoft.com/office/drawing/2014/main" id="{D00217FB-B337-4861-9437-EB32C5C97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3257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Pressured caution failure</a:t>
            </a:r>
          </a:p>
        </p:txBody>
      </p:sp>
      <p:sp>
        <p:nvSpPr>
          <p:cNvPr id="16" name="base-row-1-1">
            <a:extLst xmlns:a="http://schemas.openxmlformats.org/drawingml/2006/main">
              <a:ext uri="{FF2B5EF4-FFF2-40B4-BE49-F238E27FC236}">
                <a16:creationId xmlns:a16="http://schemas.microsoft.com/office/drawing/2014/main" id="{AD09FEE9-7E5C-43B1-8D24-C1CC7D06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766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43.1%</a:t>
            </a:r>
          </a:p>
        </p:txBody>
      </p:sp>
      <p:sp>
        <p:nvSpPr>
          <p:cNvPr id="17" name="base-row-1-2">
            <a:extLst xmlns:a="http://schemas.openxmlformats.org/drawingml/2006/main">
              <a:ext uri="{FF2B5EF4-FFF2-40B4-BE49-F238E27FC236}">
                <a16:creationId xmlns:a16="http://schemas.microsoft.com/office/drawing/2014/main" id="{7968F5D4-973E-4696-AB6B-06B13838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766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3.2%</a:t>
            </a:r>
          </a:p>
        </p:txBody>
      </p:sp>
      <p:sp>
        <p:nvSpPr>
          <p:cNvPr id="18" name="base-row-1-3">
            <a:extLst xmlns:a="http://schemas.openxmlformats.org/drawingml/2006/main">
              <a:ext uri="{FF2B5EF4-FFF2-40B4-BE49-F238E27FC236}">
                <a16:creationId xmlns:a16="http://schemas.microsoft.com/office/drawing/2014/main" id="{DB352117-15B8-43FE-A1BD-8C99E315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766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−40.1 pp</a:t>
            </a:r>
          </a:p>
        </p:txBody>
      </p:sp>
      <p:sp>
        <p:nvSpPr>
          <p:cNvPr id="19" name="base-row-1-rule">
            <a:extLst xmlns:a="http://schemas.openxmlformats.org/drawingml/2006/main">
              <a:ext uri="{FF2B5EF4-FFF2-40B4-BE49-F238E27FC236}">
                <a16:creationId xmlns:a16="http://schemas.microsoft.com/office/drawing/2014/main" id="{686C5CC8-B52F-4980-B63D-4D2923DD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29100"/>
            <a:ext cx="10496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20" name="base-row-2-0">
            <a:extLst xmlns:a="http://schemas.openxmlformats.org/drawingml/2006/main">
              <a:ext uri="{FF2B5EF4-FFF2-40B4-BE49-F238E27FC236}">
                <a16:creationId xmlns:a16="http://schemas.microsoft.com/office/drawing/2014/main" id="{59903EB1-7EC4-4BA3-83EF-6920E348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29100"/>
            <a:ext cx="3257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1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125" b="1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Authorized-control refusal</a:t>
            </a:r>
          </a:p>
        </p:txBody>
      </p:sp>
      <p:sp>
        <p:nvSpPr>
          <p:cNvPr id="21" name="base-row-2-1">
            <a:extLst xmlns:a="http://schemas.openxmlformats.org/drawingml/2006/main">
              <a:ext uri="{FF2B5EF4-FFF2-40B4-BE49-F238E27FC236}">
                <a16:creationId xmlns:a16="http://schemas.microsoft.com/office/drawing/2014/main" id="{BFED9022-F42F-4FAB-9AE9-9A80491B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291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0.0%</a:t>
            </a:r>
          </a:p>
        </p:txBody>
      </p:sp>
      <p:sp>
        <p:nvSpPr>
          <p:cNvPr id="22" name="base-row-2-2">
            <a:extLst xmlns:a="http://schemas.openxmlformats.org/drawingml/2006/main">
              <a:ext uri="{FF2B5EF4-FFF2-40B4-BE49-F238E27FC236}">
                <a16:creationId xmlns:a16="http://schemas.microsoft.com/office/drawing/2014/main" id="{C38B1F71-F5ED-47DA-95F5-6A99D766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2910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18.8%</a:t>
            </a:r>
          </a:p>
        </p:txBody>
      </p:sp>
      <p:sp>
        <p:nvSpPr>
          <p:cNvPr id="23" name="base-row-2-3">
            <a:extLst xmlns:a="http://schemas.openxmlformats.org/drawingml/2006/main">
              <a:ext uri="{FF2B5EF4-FFF2-40B4-BE49-F238E27FC236}">
                <a16:creationId xmlns:a16="http://schemas.microsoft.com/office/drawing/2014/main" id="{700B8183-00ED-4C6B-BFB1-0D9F19C4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291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125" b="0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+18.8 pp</a:t>
            </a:r>
          </a:p>
        </p:txBody>
      </p:sp>
      <p:sp>
        <p:nvSpPr>
          <p:cNvPr id="24" name="base-row-2-rule">
            <a:extLst xmlns:a="http://schemas.openxmlformats.org/drawingml/2006/main">
              <a:ext uri="{FF2B5EF4-FFF2-40B4-BE49-F238E27FC236}">
                <a16:creationId xmlns:a16="http://schemas.microsoft.com/office/drawing/2014/main" id="{2345F41D-15DC-4319-B784-B0F07288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81550"/>
            <a:ext cx="104965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25" name="base-conclusion">
            <a:extLst xmlns:a="http://schemas.openxmlformats.org/drawingml/2006/main">
              <a:ext uri="{FF2B5EF4-FFF2-40B4-BE49-F238E27FC236}">
                <a16:creationId xmlns:a16="http://schemas.microsoft.com/office/drawing/2014/main" id="{10590E2F-B854-4D49-9B7D-742CBCB6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 i="0">
                <a:solidFill>
                  <a:srgbClr val="0F4C81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The baseline therefore defines an operating-point trade-off rather than a one-dimensional model ranking.</a:t>
            </a:r>
          </a:p>
        </p:txBody>
      </p:sp>
      <p:sp>
        <p:nvSpPr>
          <p:cNvPr id="26" name="source-5">
            <a:extLst xmlns:a="http://schemas.openxmlformats.org/drawingml/2006/main">
              <a:ext uri="{FF2B5EF4-FFF2-40B4-BE49-F238E27FC236}">
                <a16:creationId xmlns:a16="http://schemas.microsoft.com/office/drawing/2014/main" id="{0BB67EAF-AB62-42CD-8AEB-F450FF1A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67400"/>
            <a:ext cx="1070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63" b="0" i="0">
                <a:solidFill>
                  <a:srgbClr val="5C5C6D"/>
                </a:solidFill>
                <a:latin typeface="Calibri"/>
                <a:ea typeface="Calibri"/>
                <a:cs typeface="Calibri"/>
              </a:defRPr>
            </a:pPr>
            <a:r>
              <a:rPr sz="863" b="0" i="0">
                <a:solidFill>
                  <a:srgbClr val="5C5C6D"/>
                </a:solidFill>
                <a:latin typeface="Calibri"/>
                <a:ea typeface="Calibri"/>
                <a:cs typeface="Calibri"/>
              </a:rPr>
              <a:t>Source: Registered confirmation design and family-clustered common-prompt baseline.</a:t>
            </a:r>
          </a:p>
        </p:txBody>
      </p:sp>
    </p:spTree>
    <p:extLst>
      <p:ext uri="{BB962C8B-B14F-4D97-AF65-F5344CB8AC3E}">
        <p14:creationId xmlns:p14="http://schemas.microsoft.com/office/powerpoint/2010/main" val="143750281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label-6">
            <a:extLst xmlns:a="http://schemas.openxmlformats.org/drawingml/2006/main">
              <a:ext uri="{FF2B5EF4-FFF2-40B4-BE49-F238E27FC236}">
                <a16:creationId xmlns:a16="http://schemas.microsoft.com/office/drawing/2014/main" id="{DEC19B6D-DD9C-45CB-92FF-C1D9B990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0F4C81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EXPERIMENT 1 · MEASUREMENT AUDIT</a:t>
            </a:r>
          </a:p>
        </p:txBody>
      </p:sp>
      <p:sp>
        <p:nvSpPr>
          <p:cNvPr id="2" name="headline-6">
            <a:extLst xmlns:a="http://schemas.openxmlformats.org/drawingml/2006/main">
              <a:ext uri="{FF2B5EF4-FFF2-40B4-BE49-F238E27FC236}">
                <a16:creationId xmlns:a16="http://schemas.microsoft.com/office/drawing/2014/main" id="{6E3CBBC1-9853-4856-A880-235B9D6F4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108966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100" b="1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Experiment 1's 25% lexical gain disappears under semantic review: unsafe responses remain 1 → 1</a:t>
            </a:r>
          </a:p>
        </p:txBody>
      </p:sp>
      <p:sp>
        <p:nvSpPr>
          <p:cNvPr id="3" name="exp1-top">
            <a:extLst xmlns:a="http://schemas.openxmlformats.org/drawingml/2006/main">
              <a:ext uri="{FF2B5EF4-FFF2-40B4-BE49-F238E27FC236}">
                <a16:creationId xmlns:a16="http://schemas.microsoft.com/office/drawing/2014/main" id="{3845C3A1-43A9-4D8D-91C1-201F5C79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F4C81"/>
            </a:solidFill>
            <a:prstDash val="solid"/>
          </a:ln>
        </p:spPr>
      </p:sp>
      <p:sp>
        <p:nvSpPr>
          <p:cNvPr id="4" name="exp1-h-0">
            <a:extLst xmlns:a="http://schemas.openxmlformats.org/drawingml/2006/main">
              <a:ext uri="{FF2B5EF4-FFF2-40B4-BE49-F238E27FC236}">
                <a16:creationId xmlns:a16="http://schemas.microsoft.com/office/drawing/2014/main" id="{7DAF8495-DB00-4C74-A391-B7200ECA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327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38" b="1" i="0">
                <a:solidFill>
                  <a:srgbClr val="0F4C81"/>
                </a:solidFill>
                <a:latin typeface="Calibri"/>
                <a:ea typeface="Calibri"/>
                <a:cs typeface="Calibri"/>
              </a:defRPr>
            </a:pPr>
            <a:r>
              <a:rPr sz="938" b="1" i="0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ENDPOINT</a:t>
            </a:r>
          </a:p>
        </p:txBody>
      </p:sp>
      <p:sp>
        <p:nvSpPr>
          <p:cNvPr id="5" name="exp1-h-1">
            <a:extLst xmlns:a="http://schemas.openxmlformats.org/drawingml/2006/main">
              <a:ext uri="{FF2B5EF4-FFF2-40B4-BE49-F238E27FC236}">
                <a16:creationId xmlns:a16="http://schemas.microsoft.com/office/drawing/2014/main" id="{06DB2E09-7C6B-4691-BDA5-A6B7781A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533650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38" b="1" i="0">
                <a:solidFill>
                  <a:srgbClr val="0F4C81"/>
                </a:solidFill>
                <a:latin typeface="Calibri"/>
                <a:ea typeface="Calibri"/>
                <a:cs typeface="Calibri"/>
              </a:defRPr>
            </a:pPr>
            <a:r>
              <a:rPr sz="938" b="1" i="0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LEXICAL SCORER</a:t>
            </a:r>
          </a:p>
        </p:txBody>
      </p:sp>
      <p:sp>
        <p:nvSpPr>
          <p:cNvPr id="6" name="exp1-h-2">
            <a:extLst xmlns:a="http://schemas.openxmlformats.org/drawingml/2006/main">
              <a:ext uri="{FF2B5EF4-FFF2-40B4-BE49-F238E27FC236}">
                <a16:creationId xmlns:a16="http://schemas.microsoft.com/office/drawing/2014/main" id="{F48F4E6A-45B3-4D66-9D1E-8DEE4950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336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38" b="1" i="0">
                <a:solidFill>
                  <a:srgbClr val="0F4C81"/>
                </a:solidFill>
                <a:latin typeface="Calibri"/>
                <a:ea typeface="Calibri"/>
                <a:cs typeface="Calibri"/>
              </a:defRPr>
            </a:pPr>
            <a:r>
              <a:rPr sz="938" b="1" i="0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SEMANTIC REVIEW</a:t>
            </a:r>
          </a:p>
        </p:txBody>
      </p:sp>
      <p:sp>
        <p:nvSpPr>
          <p:cNvPr id="7" name="exp1-bottom">
            <a:extLst xmlns:a="http://schemas.openxmlformats.org/drawingml/2006/main">
              <a:ext uri="{FF2B5EF4-FFF2-40B4-BE49-F238E27FC236}">
                <a16:creationId xmlns:a16="http://schemas.microsoft.com/office/drawing/2014/main" id="{7137E699-21B3-4CC3-AB73-320084A6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8" name="exp1-row-0-0">
            <a:extLst xmlns:a="http://schemas.openxmlformats.org/drawingml/2006/main">
              <a:ext uri="{FF2B5EF4-FFF2-40B4-BE49-F238E27FC236}">
                <a16:creationId xmlns:a16="http://schemas.microsoft.com/office/drawing/2014/main" id="{3BF42BB6-9448-481A-9DE5-5C02E7F4E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327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Unsafe target failures</a:t>
            </a:r>
          </a:p>
        </p:txBody>
      </p:sp>
      <p:sp>
        <p:nvSpPr>
          <p:cNvPr id="9" name="exp1-row-0-1">
            <a:extLst xmlns:a="http://schemas.openxmlformats.org/drawingml/2006/main">
              <a:ext uri="{FF2B5EF4-FFF2-40B4-BE49-F238E27FC236}">
                <a16:creationId xmlns:a16="http://schemas.microsoft.com/office/drawing/2014/main" id="{6843F5F3-38DE-4C65-8BE8-2A94F431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876550"/>
            <a:ext cx="312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8 → 6  (−25%)</a:t>
            </a:r>
          </a:p>
        </p:txBody>
      </p:sp>
      <p:sp>
        <p:nvSpPr>
          <p:cNvPr id="10" name="exp1-row-0-2">
            <a:extLst xmlns:a="http://schemas.openxmlformats.org/drawingml/2006/main">
              <a:ext uri="{FF2B5EF4-FFF2-40B4-BE49-F238E27FC236}">
                <a16:creationId xmlns:a16="http://schemas.microsoft.com/office/drawing/2014/main" id="{5A5300A1-D2C2-4DA0-AD90-C1494DB86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76550"/>
            <a:ext cx="4076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1 → 1  (no change)</a:t>
            </a:r>
          </a:p>
        </p:txBody>
      </p:sp>
      <p:sp>
        <p:nvSpPr>
          <p:cNvPr id="11" name="exp1-row-0-rule">
            <a:extLst xmlns:a="http://schemas.openxmlformats.org/drawingml/2006/main">
              <a:ext uri="{FF2B5EF4-FFF2-40B4-BE49-F238E27FC236}">
                <a16:creationId xmlns:a16="http://schemas.microsoft.com/office/drawing/2014/main" id="{FDA1DDFF-5897-471E-9A0F-108EE0FFE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12" name="exp1-row-1-0">
            <a:extLst xmlns:a="http://schemas.openxmlformats.org/drawingml/2006/main">
              <a:ext uri="{FF2B5EF4-FFF2-40B4-BE49-F238E27FC236}">
                <a16:creationId xmlns:a16="http://schemas.microsoft.com/office/drawing/2014/main" id="{B6899548-69E0-4B37-BEC9-A844B88E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3276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Authorized-control failures</a:t>
            </a:r>
          </a:p>
        </p:txBody>
      </p:sp>
      <p:sp>
        <p:nvSpPr>
          <p:cNvPr id="13" name="exp1-row-1-1">
            <a:extLst xmlns:a="http://schemas.openxmlformats.org/drawingml/2006/main">
              <a:ext uri="{FF2B5EF4-FFF2-40B4-BE49-F238E27FC236}">
                <a16:creationId xmlns:a16="http://schemas.microsoft.com/office/drawing/2014/main" id="{4BE70E28-3013-4BF9-92B3-11DDBC62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562350"/>
            <a:ext cx="3124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0 → 2</a:t>
            </a:r>
          </a:p>
        </p:txBody>
      </p:sp>
      <p:sp>
        <p:nvSpPr>
          <p:cNvPr id="14" name="exp1-row-1-2">
            <a:extLst xmlns:a="http://schemas.openxmlformats.org/drawingml/2006/main">
              <a:ext uri="{FF2B5EF4-FFF2-40B4-BE49-F238E27FC236}">
                <a16:creationId xmlns:a16="http://schemas.microsoft.com/office/drawing/2014/main" id="{D1C51EEB-E381-4433-ACA9-A796225F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62350"/>
            <a:ext cx="4076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0 → 0</a:t>
            </a:r>
          </a:p>
        </p:txBody>
      </p:sp>
      <p:sp>
        <p:nvSpPr>
          <p:cNvPr id="15" name="exp1-row-1-rule">
            <a:extLst xmlns:a="http://schemas.openxmlformats.org/drawingml/2006/main">
              <a:ext uri="{FF2B5EF4-FFF2-40B4-BE49-F238E27FC236}">
                <a16:creationId xmlns:a16="http://schemas.microsoft.com/office/drawing/2014/main" id="{D582BF89-64F8-42DC-A669-834C8CAE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481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16" name="exp1-evidence">
            <a:extLst xmlns:a="http://schemas.openxmlformats.org/drawingml/2006/main">
              <a:ext uri="{FF2B5EF4-FFF2-40B4-BE49-F238E27FC236}">
                <a16:creationId xmlns:a16="http://schemas.microsoft.com/office/drawing/2014/main" id="{9467AFCE-9F43-4393-9893-1366582A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0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10"/>
              </a:spcAft>
              <a:defRPr sz="1275" b="0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700" b="1" i="0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13 of 14 </a:t>
            </a:r>
            <a:r>
              <a:rPr sz="1700" b="0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automated target flags were clear lexical false positives.</a:t>
            </a:r>
          </a:p>
          <a:p xmlns:a="http://schemas.openxmlformats.org/drawingml/2006/main">
            <a:pPr algn="l">
              <a:spcAft>
                <a:spcPts val="0"/>
              </a:spcAft>
              <a:defRPr sz="1275" b="0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700" b="1" i="0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64 of 72 </a:t>
            </a:r>
            <a:r>
              <a:rPr sz="1700" b="0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chain-of-thought outputs reached the token cap, so that comparison remains inconclusive.</a:t>
            </a:r>
          </a:p>
        </p:txBody>
      </p:sp>
      <p:sp>
        <p:nvSpPr>
          <p:cNvPr id="17" name="source-6">
            <a:extLst xmlns:a="http://schemas.openxmlformats.org/drawingml/2006/main">
              <a:ext uri="{FF2B5EF4-FFF2-40B4-BE49-F238E27FC236}">
                <a16:creationId xmlns:a16="http://schemas.microsoft.com/office/drawing/2014/main" id="{18360664-BEE0-4C44-851D-22DE5F58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24550"/>
            <a:ext cx="1070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63" b="0" i="0">
                <a:solidFill>
                  <a:srgbClr val="5C5C6D"/>
                </a:solidFill>
                <a:latin typeface="Calibri"/>
                <a:ea typeface="Calibri"/>
                <a:cs typeface="Calibri"/>
              </a:defRPr>
            </a:pPr>
            <a:r>
              <a:rPr sz="863" b="0" i="0">
                <a:solidFill>
                  <a:srgbClr val="5C5C6D"/>
                </a:solidFill>
                <a:latin typeface="Calibri"/>
                <a:ea typeface="Calibri"/>
                <a:cs typeface="Calibri"/>
              </a:rPr>
              <a:t>Source: Experiment 1 results memo and semantic sensitivity audit.</a:t>
            </a:r>
          </a:p>
        </p:txBody>
      </p:sp>
    </p:spTree>
    <p:extLst>
      <p:ext uri="{BB962C8B-B14F-4D97-AF65-F5344CB8AC3E}">
        <p14:creationId xmlns:p14="http://schemas.microsoft.com/office/powerpoint/2010/main" val="143925555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label-7">
            <a:extLst xmlns:a="http://schemas.openxmlformats.org/drawingml/2006/main">
              <a:ext uri="{FF2B5EF4-FFF2-40B4-BE49-F238E27FC236}">
                <a16:creationId xmlns:a16="http://schemas.microsoft.com/office/drawing/2014/main" id="{2BAE6F2A-C062-40DF-99B7-CF2C3D4E3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0F4C81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EXPERIMENT 2 · FINDING AND EVIDENCE</a:t>
            </a:r>
          </a:p>
        </p:txBody>
      </p:sp>
      <p:sp>
        <p:nvSpPr>
          <p:cNvPr id="2" name="headline-7">
            <a:extLst xmlns:a="http://schemas.openxmlformats.org/drawingml/2006/main">
              <a:ext uri="{FF2B5EF4-FFF2-40B4-BE49-F238E27FC236}">
                <a16:creationId xmlns:a16="http://schemas.microsoft.com/office/drawing/2014/main" id="{73170617-AD22-413E-84CD-6C50ED90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108966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025" b="1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Experiment 2 cuts pressured failures from 12/32 to 2/32 with deliberation; gating reaches 0/32 but refuses 4/32 controls</a:t>
            </a:r>
          </a:p>
        </p:txBody>
      </p:sp>
      <p:sp>
        <p:nvSpPr>
          <p:cNvPr id="3" name="exp2-chart-title">
            <a:extLst xmlns:a="http://schemas.openxmlformats.org/drawingml/2006/main">
              <a:ext uri="{FF2B5EF4-FFF2-40B4-BE49-F238E27FC236}">
                <a16:creationId xmlns:a16="http://schemas.microsoft.com/office/drawing/2014/main" id="{636C5C97-5063-43C3-A4CB-A19F9EE8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098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200" b="1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Failures across interventions · n = 32 per subtype</a:t>
            </a:r>
          </a:p>
        </p:txBody>
      </p:sp>
      <p:sp>
        <p:nvSpPr>
          <p:cNvPr id="4" name="exp2-grid-0">
            <a:extLst xmlns:a="http://schemas.openxmlformats.org/drawingml/2006/main">
              <a:ext uri="{FF2B5EF4-FFF2-40B4-BE49-F238E27FC236}">
                <a16:creationId xmlns:a16="http://schemas.microsoft.com/office/drawing/2014/main" id="{641C7FC2-610D-46BA-8168-43E079F16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6255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5" name="exp2-y-0">
            <a:extLst xmlns:a="http://schemas.openxmlformats.org/drawingml/2006/main">
              <a:ext uri="{FF2B5EF4-FFF2-40B4-BE49-F238E27FC236}">
                <a16:creationId xmlns:a16="http://schemas.microsoft.com/office/drawing/2014/main" id="{6FD68C3E-6B43-40ED-802E-A237F2A6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5777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863" b="0" i="0">
                <a:solidFill>
                  <a:srgbClr val="5C5C6D"/>
                </a:solidFill>
                <a:latin typeface="Calibri"/>
                <a:ea typeface="Calibri"/>
                <a:cs typeface="Calibri"/>
              </a:defRPr>
            </a:pPr>
            <a:r>
              <a:rPr sz="863" b="0" i="0">
                <a:solidFill>
                  <a:srgbClr val="5C5C6D"/>
                </a:solidFill>
                <a:latin typeface="Calibri"/>
                <a:ea typeface="Calibri"/>
                <a:cs typeface="Calibri"/>
              </a:rPr>
              <a:t>0</a:t>
            </a:r>
          </a:p>
        </p:txBody>
      </p:sp>
      <p:sp>
        <p:nvSpPr>
          <p:cNvPr id="6" name="exp2-grid-4">
            <a:extLst xmlns:a="http://schemas.openxmlformats.org/drawingml/2006/main">
              <a:ext uri="{FF2B5EF4-FFF2-40B4-BE49-F238E27FC236}">
                <a16:creationId xmlns:a16="http://schemas.microsoft.com/office/drawing/2014/main" id="{626C10D7-8DA8-415F-8153-59FC376EA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43425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7" name="exp2-y-4">
            <a:extLst xmlns:a="http://schemas.openxmlformats.org/drawingml/2006/main">
              <a:ext uri="{FF2B5EF4-FFF2-40B4-BE49-F238E27FC236}">
                <a16:creationId xmlns:a16="http://schemas.microsoft.com/office/drawing/2014/main" id="{CF102833-8E0F-449C-A4EA-FDED851C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386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863" b="0" i="0">
                <a:solidFill>
                  <a:srgbClr val="5C5C6D"/>
                </a:solidFill>
                <a:latin typeface="Calibri"/>
                <a:ea typeface="Calibri"/>
                <a:cs typeface="Calibri"/>
              </a:defRPr>
            </a:pPr>
            <a:r>
              <a:rPr sz="863" b="0" i="0">
                <a:solidFill>
                  <a:srgbClr val="5C5C6D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8" name="exp2-grid-8">
            <a:extLst xmlns:a="http://schemas.openxmlformats.org/drawingml/2006/main">
              <a:ext uri="{FF2B5EF4-FFF2-40B4-BE49-F238E27FC236}">
                <a16:creationId xmlns:a16="http://schemas.microsoft.com/office/drawing/2014/main" id="{C18115C5-F2AA-4C87-A146-34373102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243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9" name="exp2-y-8">
            <a:extLst xmlns:a="http://schemas.openxmlformats.org/drawingml/2006/main">
              <a:ext uri="{FF2B5EF4-FFF2-40B4-BE49-F238E27FC236}">
                <a16:creationId xmlns:a16="http://schemas.microsoft.com/office/drawing/2014/main" id="{61CCC5C2-45D0-4558-894F-427B1860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95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863" b="0" i="0">
                <a:solidFill>
                  <a:srgbClr val="5C5C6D"/>
                </a:solidFill>
                <a:latin typeface="Calibri"/>
                <a:ea typeface="Calibri"/>
                <a:cs typeface="Calibri"/>
              </a:defRPr>
            </a:pPr>
            <a:r>
              <a:rPr sz="863" b="0" i="0">
                <a:solidFill>
                  <a:srgbClr val="5C5C6D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10" name="exp2-grid-12">
            <a:extLst xmlns:a="http://schemas.openxmlformats.org/drawingml/2006/main">
              <a:ext uri="{FF2B5EF4-FFF2-40B4-BE49-F238E27FC236}">
                <a16:creationId xmlns:a16="http://schemas.microsoft.com/office/drawing/2014/main" id="{32EED54B-72CE-4CA4-9CE9-D6EB5C4D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05175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11" name="exp2-y-12">
            <a:extLst xmlns:a="http://schemas.openxmlformats.org/drawingml/2006/main">
              <a:ext uri="{FF2B5EF4-FFF2-40B4-BE49-F238E27FC236}">
                <a16:creationId xmlns:a16="http://schemas.microsoft.com/office/drawing/2014/main" id="{6517B85D-E23A-410D-BE8A-34CEA985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004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863" b="0" i="0">
                <a:solidFill>
                  <a:srgbClr val="5C5C6D"/>
                </a:solidFill>
                <a:latin typeface="Calibri"/>
                <a:ea typeface="Calibri"/>
                <a:cs typeface="Calibri"/>
              </a:defRPr>
            </a:pPr>
            <a:r>
              <a:rPr sz="863" b="0" i="0">
                <a:solidFill>
                  <a:srgbClr val="5C5C6D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12" name="exp2-grid-16">
            <a:extLst xmlns:a="http://schemas.openxmlformats.org/drawingml/2006/main">
              <a:ext uri="{FF2B5EF4-FFF2-40B4-BE49-F238E27FC236}">
                <a16:creationId xmlns:a16="http://schemas.microsoft.com/office/drawing/2014/main" id="{38DF0D5F-2C92-44B9-BD5A-DC5E21DEE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13" name="exp2-y-16">
            <a:extLst xmlns:a="http://schemas.openxmlformats.org/drawingml/2006/main">
              <a:ext uri="{FF2B5EF4-FFF2-40B4-BE49-F238E27FC236}">
                <a16:creationId xmlns:a16="http://schemas.microsoft.com/office/drawing/2014/main" id="{0077B81A-EB59-4BF5-BBEA-58458601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8127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863" b="0" i="0">
                <a:solidFill>
                  <a:srgbClr val="5C5C6D"/>
                </a:solidFill>
                <a:latin typeface="Calibri"/>
                <a:ea typeface="Calibri"/>
                <a:cs typeface="Calibri"/>
              </a:defRPr>
            </a:pPr>
            <a:r>
              <a:rPr sz="863" b="0" i="0">
                <a:solidFill>
                  <a:srgbClr val="5C5C6D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  <p:sp>
        <p:nvSpPr>
          <p:cNvPr id="14" name="exp2-red-0">
            <a:extLst xmlns:a="http://schemas.openxmlformats.org/drawingml/2006/main">
              <a:ext uri="{FF2B5EF4-FFF2-40B4-BE49-F238E27FC236}">
                <a16:creationId xmlns:a16="http://schemas.microsoft.com/office/drawing/2014/main" id="{20DCF65E-5BEF-4688-B600-A6961AE7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05175"/>
            <a:ext cx="552450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E50"/>
          </a:solidFill>
          <a:ln xmlns:a="http://schemas.openxmlformats.org/drawingml/2006/main" w="0">
            <a:solidFill>
              <a:srgbClr val="C94E50"/>
            </a:solidFill>
            <a:prstDash val="solid"/>
          </a:ln>
        </p:spPr>
      </p:sp>
      <p:sp>
        <p:nvSpPr>
          <p:cNvPr id="15" name="exp2-blue-0">
            <a:extLst xmlns:a="http://schemas.openxmlformats.org/drawingml/2006/main">
              <a:ext uri="{FF2B5EF4-FFF2-40B4-BE49-F238E27FC236}">
                <a16:creationId xmlns:a16="http://schemas.microsoft.com/office/drawing/2014/main" id="{6F502F75-0F50-41E1-AD15-7D753A53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007769"/>
            <a:ext cx="552450" cy="1547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A8D"/>
          </a:solidFill>
          <a:ln xmlns:a="http://schemas.openxmlformats.org/drawingml/2006/main" w="0">
            <a:solidFill>
              <a:srgbClr val="1D5A8D"/>
            </a:solidFill>
            <a:prstDash val="solid"/>
          </a:ln>
        </p:spPr>
      </p:sp>
      <p:sp>
        <p:nvSpPr>
          <p:cNvPr id="16" name="exp2-red-value-0">
            <a:extLst xmlns:a="http://schemas.openxmlformats.org/drawingml/2006/main">
              <a:ext uri="{FF2B5EF4-FFF2-40B4-BE49-F238E27FC236}">
                <a16:creationId xmlns:a16="http://schemas.microsoft.com/office/drawing/2014/main" id="{A94E9100-9E1E-4807-83C4-75120D63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765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75" b="1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17" name="exp2-blue-value-0">
            <a:extLst xmlns:a="http://schemas.openxmlformats.org/drawingml/2006/main">
              <a:ext uri="{FF2B5EF4-FFF2-40B4-BE49-F238E27FC236}">
                <a16:creationId xmlns:a16="http://schemas.microsoft.com/office/drawing/2014/main" id="{A4C8E81C-64AF-42D3-97C8-2746788B4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779169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75" b="1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8" name="exp2-x-0">
            <a:extLst xmlns:a="http://schemas.openxmlformats.org/drawingml/2006/main">
              <a:ext uri="{FF2B5EF4-FFF2-40B4-BE49-F238E27FC236}">
                <a16:creationId xmlns:a16="http://schemas.microsoft.com/office/drawing/2014/main" id="{5BA85F23-2239-4B89-88BB-B0F519B6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3875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38" b="0" i="0">
                <a:solidFill>
                  <a:srgbClr val="5C5C6D"/>
                </a:solidFill>
                <a:latin typeface="Calibri"/>
                <a:ea typeface="Calibri"/>
                <a:cs typeface="Calibri"/>
              </a:defRPr>
            </a:pPr>
            <a:r>
              <a:rPr sz="938" b="0" i="0">
                <a:solidFill>
                  <a:srgbClr val="5C5C6D"/>
                </a:solidFill>
                <a:latin typeface="Calibri"/>
                <a:ea typeface="Calibri"/>
                <a:cs typeface="Calibri"/>
              </a:rPr>
              <a:t>Baseline</a:t>
            </a:r>
          </a:p>
        </p:txBody>
      </p:sp>
      <p:sp>
        <p:nvSpPr>
          <p:cNvPr id="19" name="exp2-red-1">
            <a:extLst xmlns:a="http://schemas.openxmlformats.org/drawingml/2006/main">
              <a:ext uri="{FF2B5EF4-FFF2-40B4-BE49-F238E27FC236}">
                <a16:creationId xmlns:a16="http://schemas.microsoft.com/office/drawing/2014/main" id="{E30885CD-EFF1-453D-9932-42BD0CF2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852988"/>
            <a:ext cx="552450" cy="3095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E50"/>
          </a:solidFill>
          <a:ln xmlns:a="http://schemas.openxmlformats.org/drawingml/2006/main" w="0">
            <a:solidFill>
              <a:srgbClr val="C94E50"/>
            </a:solidFill>
            <a:prstDash val="solid"/>
          </a:ln>
        </p:spPr>
      </p:sp>
      <p:sp>
        <p:nvSpPr>
          <p:cNvPr id="20" name="exp2-blue-1">
            <a:extLst xmlns:a="http://schemas.openxmlformats.org/drawingml/2006/main">
              <a:ext uri="{FF2B5EF4-FFF2-40B4-BE49-F238E27FC236}">
                <a16:creationId xmlns:a16="http://schemas.microsoft.com/office/drawing/2014/main" id="{E57B87AC-4250-4579-803D-49D0836A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007769"/>
            <a:ext cx="552450" cy="1547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A8D"/>
          </a:solidFill>
          <a:ln xmlns:a="http://schemas.openxmlformats.org/drawingml/2006/main" w="0">
            <a:solidFill>
              <a:srgbClr val="1D5A8D"/>
            </a:solidFill>
            <a:prstDash val="solid"/>
          </a:ln>
        </p:spPr>
      </p:sp>
      <p:sp>
        <p:nvSpPr>
          <p:cNvPr id="21" name="exp2-red-value-1">
            <a:extLst xmlns:a="http://schemas.openxmlformats.org/drawingml/2006/main">
              <a:ext uri="{FF2B5EF4-FFF2-40B4-BE49-F238E27FC236}">
                <a16:creationId xmlns:a16="http://schemas.microsoft.com/office/drawing/2014/main" id="{3AFF90DF-22E4-4D94-AD2F-B8CC4856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624388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75" b="1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2" name="exp2-blue-value-1">
            <a:extLst xmlns:a="http://schemas.openxmlformats.org/drawingml/2006/main">
              <a:ext uri="{FF2B5EF4-FFF2-40B4-BE49-F238E27FC236}">
                <a16:creationId xmlns:a16="http://schemas.microsoft.com/office/drawing/2014/main" id="{FC54C9A4-2CF9-4B79-8198-40024879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779169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75" b="1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3" name="exp2-x-1">
            <a:extLst xmlns:a="http://schemas.openxmlformats.org/drawingml/2006/main">
              <a:ext uri="{FF2B5EF4-FFF2-40B4-BE49-F238E27FC236}">
                <a16:creationId xmlns:a16="http://schemas.microsoft.com/office/drawing/2014/main" id="{B12F9FD6-83B7-4F6D-9B8E-A1E585AB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23875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38" b="0" i="0">
                <a:solidFill>
                  <a:srgbClr val="5C5C6D"/>
                </a:solidFill>
                <a:latin typeface="Calibri"/>
                <a:ea typeface="Calibri"/>
                <a:cs typeface="Calibri"/>
              </a:defRPr>
            </a:pPr>
            <a:r>
              <a:rPr sz="938" b="0" i="0">
                <a:solidFill>
                  <a:srgbClr val="5C5C6D"/>
                </a:solidFill>
                <a:latin typeface="Calibri"/>
                <a:ea typeface="Calibri"/>
                <a:cs typeface="Calibri"/>
              </a:rPr>
              <a:t>Deliberation</a:t>
            </a:r>
          </a:p>
        </p:txBody>
      </p:sp>
      <p:sp>
        <p:nvSpPr>
          <p:cNvPr id="24" name="exp2-red-2">
            <a:extLst xmlns:a="http://schemas.openxmlformats.org/drawingml/2006/main">
              <a:ext uri="{FF2B5EF4-FFF2-40B4-BE49-F238E27FC236}">
                <a16:creationId xmlns:a16="http://schemas.microsoft.com/office/drawing/2014/main" id="{15578B75-3E26-46D9-B0D4-CBEBF80A3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95613"/>
            <a:ext cx="552450" cy="2166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E50"/>
          </a:solidFill>
          <a:ln xmlns:a="http://schemas.openxmlformats.org/drawingml/2006/main" w="0">
            <a:solidFill>
              <a:srgbClr val="C94E50"/>
            </a:solidFill>
            <a:prstDash val="solid"/>
          </a:ln>
        </p:spPr>
      </p:sp>
      <p:sp>
        <p:nvSpPr>
          <p:cNvPr id="25" name="exp2-blue-2">
            <a:extLst xmlns:a="http://schemas.openxmlformats.org/drawingml/2006/main">
              <a:ext uri="{FF2B5EF4-FFF2-40B4-BE49-F238E27FC236}">
                <a16:creationId xmlns:a16="http://schemas.microsoft.com/office/drawing/2014/main" id="{80867BAD-D815-4CDC-8D11-2BF4A67F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007769"/>
            <a:ext cx="552450" cy="1547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A8D"/>
          </a:solidFill>
          <a:ln xmlns:a="http://schemas.openxmlformats.org/drawingml/2006/main" w="0">
            <a:solidFill>
              <a:srgbClr val="1D5A8D"/>
            </a:solidFill>
            <a:prstDash val="solid"/>
          </a:ln>
        </p:spPr>
      </p:sp>
      <p:sp>
        <p:nvSpPr>
          <p:cNvPr id="26" name="exp2-red-value-2">
            <a:extLst xmlns:a="http://schemas.openxmlformats.org/drawingml/2006/main">
              <a:ext uri="{FF2B5EF4-FFF2-40B4-BE49-F238E27FC236}">
                <a16:creationId xmlns:a16="http://schemas.microsoft.com/office/drawing/2014/main" id="{D4F9CEEF-D4DC-47B9-83DD-81E8CD5B4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67013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75" b="1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sp>
        <p:nvSpPr>
          <p:cNvPr id="27" name="exp2-blue-value-2">
            <a:extLst xmlns:a="http://schemas.openxmlformats.org/drawingml/2006/main">
              <a:ext uri="{FF2B5EF4-FFF2-40B4-BE49-F238E27FC236}">
                <a16:creationId xmlns:a16="http://schemas.microsoft.com/office/drawing/2014/main" id="{695BCEA6-F4A4-413C-AC83-006C15FA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779169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75" b="1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8" name="exp2-x-2">
            <a:extLst xmlns:a="http://schemas.openxmlformats.org/drawingml/2006/main">
              <a:ext uri="{FF2B5EF4-FFF2-40B4-BE49-F238E27FC236}">
                <a16:creationId xmlns:a16="http://schemas.microsoft.com/office/drawing/2014/main" id="{70599763-DB8E-4E19-AD7F-D151A03C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23875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38" b="0" i="0">
                <a:solidFill>
                  <a:srgbClr val="5C5C6D"/>
                </a:solidFill>
                <a:latin typeface="Calibri"/>
                <a:ea typeface="Calibri"/>
                <a:cs typeface="Calibri"/>
              </a:defRPr>
            </a:pPr>
            <a:r>
              <a:rPr sz="938" b="0" i="0">
                <a:solidFill>
                  <a:srgbClr val="5C5C6D"/>
                </a:solidFill>
                <a:latin typeface="Calibri"/>
                <a:ea typeface="Calibri"/>
                <a:cs typeface="Calibri"/>
              </a:rPr>
              <a:t>Structured</a:t>
            </a:r>
          </a:p>
        </p:txBody>
      </p:sp>
      <p:sp>
        <p:nvSpPr>
          <p:cNvPr id="29" name="exp2-blue-3">
            <a:extLst xmlns:a="http://schemas.openxmlformats.org/drawingml/2006/main">
              <a:ext uri="{FF2B5EF4-FFF2-40B4-BE49-F238E27FC236}">
                <a16:creationId xmlns:a16="http://schemas.microsoft.com/office/drawing/2014/main" id="{16CE1E81-8549-4729-995F-F5496805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543425"/>
            <a:ext cx="5524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A8D"/>
          </a:solidFill>
          <a:ln xmlns:a="http://schemas.openxmlformats.org/drawingml/2006/main" w="0">
            <a:solidFill>
              <a:srgbClr val="1D5A8D"/>
            </a:solidFill>
            <a:prstDash val="solid"/>
          </a:ln>
        </p:spPr>
      </p:sp>
      <p:sp>
        <p:nvSpPr>
          <p:cNvPr id="30" name="exp2-red-value-3">
            <a:extLst xmlns:a="http://schemas.openxmlformats.org/drawingml/2006/main">
              <a:ext uri="{FF2B5EF4-FFF2-40B4-BE49-F238E27FC236}">
                <a16:creationId xmlns:a16="http://schemas.microsoft.com/office/drawing/2014/main" id="{9CC67AB7-6A8B-4A53-9E9F-F119A566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3395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75" b="1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0</a:t>
            </a:r>
          </a:p>
        </p:txBody>
      </p:sp>
      <p:sp>
        <p:nvSpPr>
          <p:cNvPr id="31" name="exp2-blue-value-3">
            <a:extLst xmlns:a="http://schemas.openxmlformats.org/drawingml/2006/main">
              <a:ext uri="{FF2B5EF4-FFF2-40B4-BE49-F238E27FC236}">
                <a16:creationId xmlns:a16="http://schemas.microsoft.com/office/drawing/2014/main" id="{EE182CBE-D7BE-4BF4-99FB-96A07C85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148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75" b="1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975" b="1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2" name="exp2-x-3">
            <a:extLst xmlns:a="http://schemas.openxmlformats.org/drawingml/2006/main">
              <a:ext uri="{FF2B5EF4-FFF2-40B4-BE49-F238E27FC236}">
                <a16:creationId xmlns:a16="http://schemas.microsoft.com/office/drawing/2014/main" id="{9D744231-D00D-4BB1-A484-3121D0D1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238750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938" b="0" i="0">
                <a:solidFill>
                  <a:srgbClr val="5C5C6D"/>
                </a:solidFill>
                <a:latin typeface="Calibri"/>
                <a:ea typeface="Calibri"/>
                <a:cs typeface="Calibri"/>
              </a:defRPr>
            </a:pPr>
            <a:r>
              <a:rPr sz="938" b="0" i="0">
                <a:solidFill>
                  <a:srgbClr val="5C5C6D"/>
                </a:solidFill>
                <a:latin typeface="Calibri"/>
                <a:ea typeface="Calibri"/>
                <a:cs typeface="Calibri"/>
              </a:rPr>
              <a:t>Gating</a:t>
            </a:r>
          </a:p>
        </p:txBody>
      </p:sp>
      <p:sp>
        <p:nvSpPr>
          <p:cNvPr id="33" name="exp2-legend-a-swatch">
            <a:extLst xmlns:a="http://schemas.openxmlformats.org/drawingml/2006/main">
              <a:ext uri="{FF2B5EF4-FFF2-40B4-BE49-F238E27FC236}">
                <a16:creationId xmlns:a16="http://schemas.microsoft.com/office/drawing/2014/main" id="{871FFA2C-74C4-4EF0-B46D-A47C69A5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667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E50"/>
          </a:solidFill>
          <a:ln xmlns:a="http://schemas.openxmlformats.org/drawingml/2006/main" w="0">
            <a:solidFill>
              <a:srgbClr val="C94E50"/>
            </a:solidFill>
            <a:prstDash val="solid"/>
          </a:ln>
        </p:spPr>
      </p:sp>
      <p:sp>
        <p:nvSpPr>
          <p:cNvPr id="34" name="exp2-legend-a-label">
            <a:extLst xmlns:a="http://schemas.openxmlformats.org/drawingml/2006/main">
              <a:ext uri="{FF2B5EF4-FFF2-40B4-BE49-F238E27FC236}">
                <a16:creationId xmlns:a16="http://schemas.microsoft.com/office/drawing/2014/main" id="{A6BFE4DA-3139-43B1-893E-11D61625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6197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38" b="0" i="0">
                <a:solidFill>
                  <a:srgbClr val="5C5C6D"/>
                </a:solidFill>
                <a:latin typeface="Calibri"/>
                <a:ea typeface="Calibri"/>
                <a:cs typeface="Calibri"/>
              </a:defRPr>
            </a:pPr>
            <a:r>
              <a:rPr sz="938" b="0" i="0">
                <a:solidFill>
                  <a:srgbClr val="5C5C6D"/>
                </a:solidFill>
                <a:latin typeface="Calibri"/>
                <a:ea typeface="Calibri"/>
                <a:cs typeface="Calibri"/>
              </a:rPr>
              <a:t>Pressured caution</a:t>
            </a:r>
          </a:p>
        </p:txBody>
      </p:sp>
      <p:sp>
        <p:nvSpPr>
          <p:cNvPr id="35" name="exp2-legend-b-swatch">
            <a:extLst xmlns:a="http://schemas.openxmlformats.org/drawingml/2006/main">
              <a:ext uri="{FF2B5EF4-FFF2-40B4-BE49-F238E27FC236}">
                <a16:creationId xmlns:a16="http://schemas.microsoft.com/office/drawing/2014/main" id="{84C08266-C471-4BB1-91AE-1A5999F6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667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5A8D"/>
          </a:solidFill>
          <a:ln xmlns:a="http://schemas.openxmlformats.org/drawingml/2006/main" w="0">
            <a:solidFill>
              <a:srgbClr val="1D5A8D"/>
            </a:solidFill>
            <a:prstDash val="solid"/>
          </a:ln>
        </p:spPr>
      </p:sp>
      <p:sp>
        <p:nvSpPr>
          <p:cNvPr id="36" name="exp2-legend-b-label">
            <a:extLst xmlns:a="http://schemas.openxmlformats.org/drawingml/2006/main">
              <a:ext uri="{FF2B5EF4-FFF2-40B4-BE49-F238E27FC236}">
                <a16:creationId xmlns:a16="http://schemas.microsoft.com/office/drawing/2014/main" id="{322E31DB-4A38-4F34-94AF-BA77FFB8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6197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38" b="0" i="0">
                <a:solidFill>
                  <a:srgbClr val="5C5C6D"/>
                </a:solidFill>
                <a:latin typeface="Calibri"/>
                <a:ea typeface="Calibri"/>
                <a:cs typeface="Calibri"/>
              </a:defRPr>
            </a:pPr>
            <a:r>
              <a:rPr sz="938" b="0" i="0">
                <a:solidFill>
                  <a:srgbClr val="5C5C6D"/>
                </a:solidFill>
                <a:latin typeface="Calibri"/>
                <a:ea typeface="Calibri"/>
                <a:cs typeface="Calibri"/>
              </a:rPr>
              <a:t>Authorized control</a:t>
            </a:r>
          </a:p>
        </p:txBody>
      </p:sp>
      <p:sp>
        <p:nvSpPr>
          <p:cNvPr id="37" name="exp2-side-label">
            <a:extLst xmlns:a="http://schemas.openxmlformats.org/drawingml/2006/main">
              <a:ext uri="{FF2B5EF4-FFF2-40B4-BE49-F238E27FC236}">
                <a16:creationId xmlns:a16="http://schemas.microsoft.com/office/drawing/2014/main" id="{CE1B56BA-2B64-4A48-9A98-724FDE47F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24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0F4C81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ONLY REGISTERED PASS</a:t>
            </a:r>
          </a:p>
        </p:txBody>
      </p:sp>
      <p:sp>
        <p:nvSpPr>
          <p:cNvPr id="38" name="exp2-side-main">
            <a:extLst xmlns:a="http://schemas.openxmlformats.org/drawingml/2006/main">
              <a:ext uri="{FF2B5EF4-FFF2-40B4-BE49-F238E27FC236}">
                <a16:creationId xmlns:a16="http://schemas.microsoft.com/office/drawing/2014/main" id="{52024DCD-3E9D-435A-A003-77B82C58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0515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875" b="1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Deliberation</a:t>
            </a:r>
          </a:p>
        </p:txBody>
      </p:sp>
      <p:sp>
        <p:nvSpPr>
          <p:cNvPr id="39" name="exp2-side-red">
            <a:extLst xmlns:a="http://schemas.openxmlformats.org/drawingml/2006/main">
              <a:ext uri="{FF2B5EF4-FFF2-40B4-BE49-F238E27FC236}">
                <a16:creationId xmlns:a16="http://schemas.microsoft.com/office/drawing/2014/main" id="{BE0BB96D-C928-4C5E-A7E9-CD894611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581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425" b="1" i="0">
                <a:solidFill>
                  <a:srgbClr val="C94E50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C94E50"/>
                </a:solidFill>
                <a:latin typeface="Calibri"/>
                <a:ea typeface="Calibri"/>
                <a:cs typeface="Calibri"/>
              </a:rPr>
              <a:t>12 → 2 pressured</a:t>
            </a:r>
          </a:p>
        </p:txBody>
      </p:sp>
      <p:sp>
        <p:nvSpPr>
          <p:cNvPr id="40" name="exp2-side-blue">
            <a:extLst xmlns:a="http://schemas.openxmlformats.org/drawingml/2006/main">
              <a:ext uri="{FF2B5EF4-FFF2-40B4-BE49-F238E27FC236}">
                <a16:creationId xmlns:a16="http://schemas.microsoft.com/office/drawing/2014/main" id="{D24B70D4-3C21-484A-9F90-35C22E5B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9433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425" b="1" i="0">
                <a:solidFill>
                  <a:srgbClr val="0F4C81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1 → 1 controls</a:t>
            </a:r>
          </a:p>
        </p:txBody>
      </p:sp>
      <p:sp>
        <p:nvSpPr>
          <p:cNvPr id="41" name="exp2-side-note">
            <a:extLst xmlns:a="http://schemas.openxmlformats.org/drawingml/2006/main">
              <a:ext uri="{FF2B5EF4-FFF2-40B4-BE49-F238E27FC236}">
                <a16:creationId xmlns:a16="http://schemas.microsoft.com/office/drawing/2014/main" id="{93A524E3-24CA-4364-B9A8-7CFC3887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57700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63" b="0" i="0">
                <a:solidFill>
                  <a:srgbClr val="5C5C6D"/>
                </a:solidFill>
                <a:latin typeface="Calibri"/>
                <a:ea typeface="Calibri"/>
                <a:cs typeface="Calibri"/>
              </a:defRPr>
            </a:pPr>
            <a:r>
              <a:rPr sz="1163" b="0" i="0">
                <a:solidFill>
                  <a:srgbClr val="5C5C6D"/>
                </a:solidFill>
                <a:latin typeface="Calibri"/>
                <a:ea typeface="Calibri"/>
                <a:cs typeface="Calibri"/>
              </a:rPr>
              <a:t>Gating eliminates pressured failures but raises control refusals from 1 to 4.</a:t>
            </a:r>
          </a:p>
        </p:txBody>
      </p:sp>
      <p:sp>
        <p:nvSpPr>
          <p:cNvPr id="42" name="source-7">
            <a:extLst xmlns:a="http://schemas.openxmlformats.org/drawingml/2006/main">
              <a:ext uri="{FF2B5EF4-FFF2-40B4-BE49-F238E27FC236}">
                <a16:creationId xmlns:a16="http://schemas.microsoft.com/office/drawing/2014/main" id="{1CB224BD-6917-4333-810A-164F07A9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29350"/>
            <a:ext cx="1070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63" b="0" i="0">
                <a:solidFill>
                  <a:srgbClr val="5C5C6D"/>
                </a:solidFill>
                <a:latin typeface="Calibri"/>
                <a:ea typeface="Calibri"/>
                <a:cs typeface="Calibri"/>
              </a:defRPr>
            </a:pPr>
            <a:r>
              <a:rPr sz="863" b="0" i="0">
                <a:solidFill>
                  <a:srgbClr val="5C5C6D"/>
                </a:solidFill>
                <a:latin typeface="Calibri"/>
                <a:ea typeface="Calibri"/>
                <a:cs typeface="Calibri"/>
              </a:rPr>
              <a:t>Source: Semantic panel analysis; 32 paired items per subtype and condition.</a:t>
            </a:r>
          </a:p>
        </p:txBody>
      </p:sp>
    </p:spTree>
    <p:extLst>
      <p:ext uri="{BB962C8B-B14F-4D97-AF65-F5344CB8AC3E}">
        <p14:creationId xmlns:p14="http://schemas.microsoft.com/office/powerpoint/2010/main" val="77022677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label-8">
            <a:extLst xmlns:a="http://schemas.openxmlformats.org/drawingml/2006/main">
              <a:ext uri="{FF2B5EF4-FFF2-40B4-BE49-F238E27FC236}">
                <a16:creationId xmlns:a16="http://schemas.microsoft.com/office/drawing/2014/main" id="{EF712F71-1D04-4D0F-934B-52B1D77A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0F4C81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CROSS-EXPERIMENT SYNTHESIS · PRIMARY CONTRIBUTION</a:t>
            </a:r>
          </a:p>
        </p:txBody>
      </p:sp>
      <p:sp>
        <p:nvSpPr>
          <p:cNvPr id="2" name="headline-8">
            <a:extLst xmlns:a="http://schemas.openxmlformats.org/drawingml/2006/main">
              <a:ext uri="{FF2B5EF4-FFF2-40B4-BE49-F238E27FC236}">
                <a16:creationId xmlns:a16="http://schemas.microsoft.com/office/drawing/2014/main" id="{CDB711F0-1B46-49FA-B91B-F4039097D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108966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025" b="1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2025" b="1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Generator identity shifts all three endpoints: −55.0 pp plain, −40.1 pp pressured, and +18.8 pp authorized refusal</a:t>
            </a:r>
          </a:p>
        </p:txBody>
      </p:sp>
      <p:sp>
        <p:nvSpPr>
          <p:cNvPr id="3" name="synth-top">
            <a:extLst xmlns:a="http://schemas.openxmlformats.org/drawingml/2006/main">
              <a:ext uri="{FF2B5EF4-FFF2-40B4-BE49-F238E27FC236}">
                <a16:creationId xmlns:a16="http://schemas.microsoft.com/office/drawing/2014/main" id="{8D8FFF78-C0EA-4FFF-B129-90AA9D8C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F4C81"/>
            </a:solidFill>
            <a:prstDash val="solid"/>
          </a:ln>
        </p:spPr>
      </p:sp>
      <p:sp>
        <p:nvSpPr>
          <p:cNvPr id="4" name="synth-h-0">
            <a:extLst xmlns:a="http://schemas.openxmlformats.org/drawingml/2006/main">
              <a:ext uri="{FF2B5EF4-FFF2-40B4-BE49-F238E27FC236}">
                <a16:creationId xmlns:a16="http://schemas.microsoft.com/office/drawing/2014/main" id="{2DA342A4-571E-4F52-8E73-0F199F57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2700"/>
            <a:ext cx="3638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38" b="1" i="0">
                <a:solidFill>
                  <a:srgbClr val="0F4C81"/>
                </a:solidFill>
                <a:latin typeface="Calibri"/>
                <a:ea typeface="Calibri"/>
                <a:cs typeface="Calibri"/>
              </a:defRPr>
            </a:pPr>
            <a:r>
              <a:rPr sz="938" b="1" i="0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COMMON-PROMPT ENDPOINT</a:t>
            </a:r>
          </a:p>
        </p:txBody>
      </p:sp>
      <p:sp>
        <p:nvSpPr>
          <p:cNvPr id="5" name="synth-h-1">
            <a:extLst xmlns:a="http://schemas.openxmlformats.org/drawingml/2006/main">
              <a:ext uri="{FF2B5EF4-FFF2-40B4-BE49-F238E27FC236}">
                <a16:creationId xmlns:a16="http://schemas.microsoft.com/office/drawing/2014/main" id="{DE7EC323-7B91-4CD4-997A-7C32F3BF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5270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38" b="1" i="0">
                <a:solidFill>
                  <a:srgbClr val="0F4C81"/>
                </a:solidFill>
                <a:latin typeface="Calibri"/>
                <a:ea typeface="Calibri"/>
                <a:cs typeface="Calibri"/>
              </a:defRPr>
            </a:pPr>
            <a:r>
              <a:rPr sz="938" b="1" i="0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QWEN − MISTRAL</a:t>
            </a:r>
          </a:p>
        </p:txBody>
      </p:sp>
      <p:sp>
        <p:nvSpPr>
          <p:cNvPr id="6" name="synth-h-2">
            <a:extLst xmlns:a="http://schemas.openxmlformats.org/drawingml/2006/main">
              <a:ext uri="{FF2B5EF4-FFF2-40B4-BE49-F238E27FC236}">
                <a16:creationId xmlns:a16="http://schemas.microsoft.com/office/drawing/2014/main" id="{B0573EE4-09E4-4D8F-AD15-52843F32C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552700"/>
            <a:ext cx="3924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38" b="1" i="0">
                <a:solidFill>
                  <a:srgbClr val="0F4C81"/>
                </a:solidFill>
                <a:latin typeface="Calibri"/>
                <a:ea typeface="Calibri"/>
                <a:cs typeface="Calibri"/>
              </a:defRPr>
            </a:pPr>
            <a:r>
              <a:rPr sz="938" b="1" i="0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INTERPRETATION</a:t>
            </a:r>
          </a:p>
        </p:txBody>
      </p:sp>
      <p:sp>
        <p:nvSpPr>
          <p:cNvPr id="7" name="synth-bottom">
            <a:extLst xmlns:a="http://schemas.openxmlformats.org/drawingml/2006/main">
              <a:ext uri="{FF2B5EF4-FFF2-40B4-BE49-F238E27FC236}">
                <a16:creationId xmlns:a16="http://schemas.microsoft.com/office/drawing/2014/main" id="{A2A1E5A1-2A9C-4AB7-BDDA-E624F7A5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956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8" name="synth-row-0-0">
            <a:extLst xmlns:a="http://schemas.openxmlformats.org/drawingml/2006/main">
              <a:ext uri="{FF2B5EF4-FFF2-40B4-BE49-F238E27FC236}">
                <a16:creationId xmlns:a16="http://schemas.microsoft.com/office/drawing/2014/main" id="{577223AF-537C-493C-A2F8-6B849867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95600"/>
            <a:ext cx="3638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Plain caution failure</a:t>
            </a:r>
          </a:p>
        </p:txBody>
      </p:sp>
      <p:sp>
        <p:nvSpPr>
          <p:cNvPr id="9" name="synth-row-0-1">
            <a:extLst xmlns:a="http://schemas.openxmlformats.org/drawingml/2006/main">
              <a:ext uri="{FF2B5EF4-FFF2-40B4-BE49-F238E27FC236}">
                <a16:creationId xmlns:a16="http://schemas.microsoft.com/office/drawing/2014/main" id="{F54B30A8-8A03-4E5B-8FAF-85966E5B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895600"/>
            <a:ext cx="2819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−55.0 pp</a:t>
            </a:r>
          </a:p>
        </p:txBody>
      </p:sp>
      <p:sp>
        <p:nvSpPr>
          <p:cNvPr id="10" name="synth-row-0-2">
            <a:extLst xmlns:a="http://schemas.openxmlformats.org/drawingml/2006/main">
              <a:ext uri="{FF2B5EF4-FFF2-40B4-BE49-F238E27FC236}">
                <a16:creationId xmlns:a16="http://schemas.microsoft.com/office/drawing/2014/main" id="{9CEEE3C1-912D-4748-A8BF-63069A252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895600"/>
            <a:ext cx="3924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Qwen lower</a:t>
            </a:r>
          </a:p>
        </p:txBody>
      </p:sp>
      <p:sp>
        <p:nvSpPr>
          <p:cNvPr id="11" name="synth-row-0-rule">
            <a:extLst xmlns:a="http://schemas.openxmlformats.org/drawingml/2006/main">
              <a:ext uri="{FF2B5EF4-FFF2-40B4-BE49-F238E27FC236}">
                <a16:creationId xmlns:a16="http://schemas.microsoft.com/office/drawing/2014/main" id="{9FADB44D-7FBA-486B-B741-B861866A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12" name="synth-row-1-0">
            <a:extLst xmlns:a="http://schemas.openxmlformats.org/drawingml/2006/main">
              <a:ext uri="{FF2B5EF4-FFF2-40B4-BE49-F238E27FC236}">
                <a16:creationId xmlns:a16="http://schemas.microsoft.com/office/drawing/2014/main" id="{3D0F30B1-98BC-4223-8A0B-428BE748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24250"/>
            <a:ext cx="3638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Pressured caution failure</a:t>
            </a:r>
          </a:p>
        </p:txBody>
      </p:sp>
      <p:sp>
        <p:nvSpPr>
          <p:cNvPr id="13" name="synth-row-1-1">
            <a:extLst xmlns:a="http://schemas.openxmlformats.org/drawingml/2006/main">
              <a:ext uri="{FF2B5EF4-FFF2-40B4-BE49-F238E27FC236}">
                <a16:creationId xmlns:a16="http://schemas.microsoft.com/office/drawing/2014/main" id="{12D72BB1-380A-429B-9DBB-2DBA2EFD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24250"/>
            <a:ext cx="2819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−40.1 pp</a:t>
            </a:r>
          </a:p>
        </p:txBody>
      </p:sp>
      <p:sp>
        <p:nvSpPr>
          <p:cNvPr id="14" name="synth-row-1-2">
            <a:extLst xmlns:a="http://schemas.openxmlformats.org/drawingml/2006/main">
              <a:ext uri="{FF2B5EF4-FFF2-40B4-BE49-F238E27FC236}">
                <a16:creationId xmlns:a16="http://schemas.microsoft.com/office/drawing/2014/main" id="{E20C8CCC-660B-432A-937F-AA689FD24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524250"/>
            <a:ext cx="3924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Qwen lower</a:t>
            </a:r>
          </a:p>
        </p:txBody>
      </p:sp>
      <p:sp>
        <p:nvSpPr>
          <p:cNvPr id="15" name="synth-row-1-rule">
            <a:extLst xmlns:a="http://schemas.openxmlformats.org/drawingml/2006/main">
              <a:ext uri="{FF2B5EF4-FFF2-40B4-BE49-F238E27FC236}">
                <a16:creationId xmlns:a16="http://schemas.microsoft.com/office/drawing/2014/main" id="{519CDAC8-3BB8-4D44-813D-6B406BAD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529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16" name="synth-row-2-0">
            <a:extLst xmlns:a="http://schemas.openxmlformats.org/drawingml/2006/main">
              <a:ext uri="{FF2B5EF4-FFF2-40B4-BE49-F238E27FC236}">
                <a16:creationId xmlns:a16="http://schemas.microsoft.com/office/drawing/2014/main" id="{FDBE5CE0-7382-43CD-82A2-78C77311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52900"/>
            <a:ext cx="3638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Authorized-control refusal</a:t>
            </a:r>
          </a:p>
        </p:txBody>
      </p:sp>
      <p:sp>
        <p:nvSpPr>
          <p:cNvPr id="17" name="synth-row-2-1">
            <a:extLst xmlns:a="http://schemas.openxmlformats.org/drawingml/2006/main">
              <a:ext uri="{FF2B5EF4-FFF2-40B4-BE49-F238E27FC236}">
                <a16:creationId xmlns:a16="http://schemas.microsoft.com/office/drawing/2014/main" id="{1B86927A-40FE-4866-99E4-C859322F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52900"/>
            <a:ext cx="2819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+18.8 pp</a:t>
            </a:r>
          </a:p>
        </p:txBody>
      </p:sp>
      <p:sp>
        <p:nvSpPr>
          <p:cNvPr id="18" name="synth-row-2-2">
            <a:extLst xmlns:a="http://schemas.openxmlformats.org/drawingml/2006/main">
              <a:ext uri="{FF2B5EF4-FFF2-40B4-BE49-F238E27FC236}">
                <a16:creationId xmlns:a16="http://schemas.microsoft.com/office/drawing/2014/main" id="{AF98C402-1534-4E64-B16D-3A373BF3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152900"/>
            <a:ext cx="3924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0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200" b="0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Qwen higher</a:t>
            </a:r>
          </a:p>
        </p:txBody>
      </p:sp>
      <p:sp>
        <p:nvSpPr>
          <p:cNvPr id="19" name="synth-row-2-rule">
            <a:extLst xmlns:a="http://schemas.openxmlformats.org/drawingml/2006/main">
              <a:ext uri="{FF2B5EF4-FFF2-40B4-BE49-F238E27FC236}">
                <a16:creationId xmlns:a16="http://schemas.microsoft.com/office/drawing/2014/main" id="{032CF28C-0A3E-470E-9850-310C8E18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815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20" name="synth-contribution">
            <a:extLst xmlns:a="http://schemas.openxmlformats.org/drawingml/2006/main">
              <a:ext uri="{FF2B5EF4-FFF2-40B4-BE49-F238E27FC236}">
                <a16:creationId xmlns:a16="http://schemas.microsoft.com/office/drawing/2014/main" id="{03C5EE0F-DF45-422D-99AB-A260C1B6C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 i="0">
                <a:solidFill>
                  <a:srgbClr val="0F4C81"/>
                </a:solidFill>
                <a:latin typeface="Calibri"/>
                <a:ea typeface="Calibri"/>
                <a:cs typeface="Calibri"/>
              </a:defRPr>
            </a:pPr>
            <a:r>
              <a:rPr sz="1350" b="1" i="0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Primary contribution · authorization safety is an operating-point problem on two jointly reported errors, not a scalar ranking.</a:t>
            </a:r>
          </a:p>
        </p:txBody>
      </p:sp>
      <p:sp>
        <p:nvSpPr>
          <p:cNvPr id="21" name="source-8">
            <a:extLst xmlns:a="http://schemas.openxmlformats.org/drawingml/2006/main">
              <a:ext uri="{FF2B5EF4-FFF2-40B4-BE49-F238E27FC236}">
                <a16:creationId xmlns:a16="http://schemas.microsoft.com/office/drawing/2014/main" id="{FBDCE508-4720-48F0-B726-1B2E8F2C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43600"/>
            <a:ext cx="1070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63" b="0" i="0">
                <a:solidFill>
                  <a:srgbClr val="5C5C6D"/>
                </a:solidFill>
                <a:latin typeface="Calibri"/>
                <a:ea typeface="Calibri"/>
                <a:cs typeface="Calibri"/>
              </a:defRPr>
            </a:pPr>
            <a:r>
              <a:rPr sz="863" b="0" i="0">
                <a:solidFill>
                  <a:srgbClr val="5C5C6D"/>
                </a:solidFill>
                <a:latin typeface="Calibri"/>
                <a:ea typeface="Calibri"/>
                <a:cs typeface="Calibri"/>
              </a:rPr>
              <a:t>Source: Registered family-clustered common-prompt contrast.</a:t>
            </a:r>
          </a:p>
        </p:txBody>
      </p:sp>
    </p:spTree>
    <p:extLst>
      <p:ext uri="{BB962C8B-B14F-4D97-AF65-F5344CB8AC3E}">
        <p14:creationId xmlns:p14="http://schemas.microsoft.com/office/powerpoint/2010/main" val="111928997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label-9">
            <a:extLst xmlns:a="http://schemas.openxmlformats.org/drawingml/2006/main">
              <a:ext uri="{FF2B5EF4-FFF2-40B4-BE49-F238E27FC236}">
                <a16:creationId xmlns:a16="http://schemas.microsoft.com/office/drawing/2014/main" id="{448AED65-BA39-4372-B61D-DB7D4648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0F4C81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PIC 2.0 ANALYSIS · TWO KEY MODEL CLASSES</a:t>
            </a:r>
          </a:p>
        </p:txBody>
      </p:sp>
      <p:sp>
        <p:nvSpPr>
          <p:cNvPr id="2" name="headline-9">
            <a:extLst xmlns:a="http://schemas.openxmlformats.org/drawingml/2006/main">
              <a:ext uri="{FF2B5EF4-FFF2-40B4-BE49-F238E27FC236}">
                <a16:creationId xmlns:a16="http://schemas.microsoft.com/office/drawing/2014/main" id="{F4EBB844-B503-430C-BB85-42D26B06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108966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100" b="1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Two PIC 2.0 classes map directly to the measured trade-off: GRPO selects actions; SEOM gates them</a:t>
            </a:r>
          </a:p>
        </p:txBody>
      </p:sp>
      <p:sp>
        <p:nvSpPr>
          <p:cNvPr id="3" name="pic-grpo-head">
            <a:extLst xmlns:a="http://schemas.openxmlformats.org/drawingml/2006/main">
              <a:ext uri="{FF2B5EF4-FFF2-40B4-BE49-F238E27FC236}">
                <a16:creationId xmlns:a16="http://schemas.microsoft.com/office/drawing/2014/main" id="{9E587603-45B1-4ACE-A44D-50650EDC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 i="0">
                <a:solidFill>
                  <a:srgbClr val="0F4C81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GRPO · DECISION MAKER</a:t>
            </a:r>
          </a:p>
        </p:txBody>
      </p:sp>
      <p:sp>
        <p:nvSpPr>
          <p:cNvPr id="4" name="pic-grpo-body">
            <a:extLst xmlns:a="http://schemas.openxmlformats.org/drawingml/2006/main">
              <a:ext uri="{FF2B5EF4-FFF2-40B4-BE49-F238E27FC236}">
                <a16:creationId xmlns:a16="http://schemas.microsoft.com/office/drawing/2014/main" id="{134E986F-0C7C-45DA-BF49-092583BE1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95600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10"/>
              </a:spcAft>
              <a:defRPr sz="1275" b="0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700" b="1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Role · </a:t>
            </a:r>
            <a:r>
              <a:rPr sz="1700" b="0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select among execute, refuse, and escalate under task reward.</a:t>
            </a:r>
          </a:p>
          <a:p xmlns:a="http://schemas.openxmlformats.org/drawingml/2006/main">
            <a:pPr algn="l">
              <a:spcAft>
                <a:spcPts val="10"/>
              </a:spcAft>
              <a:defRPr sz="1275" b="0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700" b="1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Measured implication · </a:t>
            </a:r>
            <a:r>
              <a:rPr sz="1700" b="0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unsafe compliance and authorized refusal must enter the objective separately.</a:t>
            </a:r>
          </a:p>
          <a:p xmlns:a="http://schemas.openxmlformats.org/drawingml/2006/main">
            <a:pPr algn="l">
              <a:spcAft>
                <a:spcPts val="0"/>
              </a:spcAft>
              <a:defRPr sz="1275" b="0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700" b="1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Research gate · </a:t>
            </a:r>
            <a:r>
              <a:rPr sz="1700" b="0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calibrate the operating point before transfer to a physical task.</a:t>
            </a:r>
          </a:p>
        </p:txBody>
      </p:sp>
      <p:sp>
        <p:nvSpPr>
          <p:cNvPr id="5" name="pic-divider">
            <a:extLst xmlns:a="http://schemas.openxmlformats.org/drawingml/2006/main">
              <a:ext uri="{FF2B5EF4-FFF2-40B4-BE49-F238E27FC236}">
                <a16:creationId xmlns:a16="http://schemas.microsoft.com/office/drawing/2014/main" id="{B32731AB-0171-47B5-B339-2F95EEC87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343150"/>
            <a:ext cx="952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6" name="pic-seom-head">
            <a:extLst xmlns:a="http://schemas.openxmlformats.org/drawingml/2006/main">
              <a:ext uri="{FF2B5EF4-FFF2-40B4-BE49-F238E27FC236}">
                <a16:creationId xmlns:a16="http://schemas.microsoft.com/office/drawing/2014/main" id="{3275081F-2BF2-49F9-80E1-6628201E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81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 i="0">
                <a:solidFill>
                  <a:srgbClr val="0F4C81"/>
                </a:solidFill>
                <a:latin typeface="Calibri"/>
                <a:ea typeface="Calibri"/>
                <a:cs typeface="Calibri"/>
              </a:defRPr>
            </a:pPr>
            <a:r>
              <a:rPr sz="1275" b="1" i="0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SEOM · SAFETY GUARDIAN</a:t>
            </a:r>
          </a:p>
        </p:txBody>
      </p:sp>
      <p:sp>
        <p:nvSpPr>
          <p:cNvPr id="7" name="pic-seom-body">
            <a:extLst xmlns:a="http://schemas.openxmlformats.org/drawingml/2006/main">
              <a:ext uri="{FF2B5EF4-FFF2-40B4-BE49-F238E27FC236}">
                <a16:creationId xmlns:a16="http://schemas.microsoft.com/office/drawing/2014/main" id="{8286A349-51B9-49D9-B915-5517D846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95600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10"/>
              </a:spcAft>
              <a:defRPr sz="1275" b="0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700" b="1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Role · </a:t>
            </a:r>
            <a:r>
              <a:rPr sz="1700" b="0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admit, block, or escalate actions using safety and uncertainty constraints.</a:t>
            </a:r>
          </a:p>
          <a:p xmlns:a="http://schemas.openxmlformats.org/drawingml/2006/main">
            <a:pPr algn="l">
              <a:spcAft>
                <a:spcPts val="10"/>
              </a:spcAft>
              <a:defRPr sz="1275" b="0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700" b="1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Measured implication · </a:t>
            </a:r>
            <a:r>
              <a:rPr sz="1700" b="0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hard gates may lower unsafe action while increasing authorized refusal.</a:t>
            </a:r>
          </a:p>
          <a:p xmlns:a="http://schemas.openxmlformats.org/drawingml/2006/main">
            <a:pPr algn="l">
              <a:spcAft>
                <a:spcPts val="0"/>
              </a:spcAft>
              <a:defRPr sz="1275" b="0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700" b="1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Research gate · </a:t>
            </a:r>
            <a:r>
              <a:rPr sz="1700" b="0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evaluate calibrated deferral rather than treating refusal as the only safe fallback.</a:t>
            </a:r>
          </a:p>
        </p:txBody>
      </p:sp>
      <p:sp>
        <p:nvSpPr>
          <p:cNvPr id="8" name="source-9">
            <a:extLst xmlns:a="http://schemas.openxmlformats.org/drawingml/2006/main">
              <a:ext uri="{FF2B5EF4-FFF2-40B4-BE49-F238E27FC236}">
                <a16:creationId xmlns:a16="http://schemas.microsoft.com/office/drawing/2014/main" id="{AEED1861-B839-4CFB-A89A-539C0F63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86450"/>
            <a:ext cx="1070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63" b="0" i="0">
                <a:solidFill>
                  <a:srgbClr val="5C5C6D"/>
                </a:solidFill>
                <a:latin typeface="Calibri"/>
                <a:ea typeface="Calibri"/>
                <a:cs typeface="Calibri"/>
              </a:defRPr>
            </a:pPr>
            <a:r>
              <a:rPr sz="863" b="0" i="0">
                <a:solidFill>
                  <a:srgbClr val="5C5C6D"/>
                </a:solidFill>
                <a:latin typeface="Calibri"/>
                <a:ea typeface="Calibri"/>
                <a:cs typeface="Calibri"/>
              </a:rPr>
              <a:t>Source: PIC 2.0 analysis; mappings are research hypotheses, not deployed-module evaluations.</a:t>
            </a:r>
          </a:p>
        </p:txBody>
      </p:sp>
    </p:spTree>
    <p:extLst>
      <p:ext uri="{BB962C8B-B14F-4D97-AF65-F5344CB8AC3E}">
        <p14:creationId xmlns:p14="http://schemas.microsoft.com/office/powerpoint/2010/main" val="103789174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label-10">
            <a:extLst xmlns:a="http://schemas.openxmlformats.org/drawingml/2006/main">
              <a:ext uri="{FF2B5EF4-FFF2-40B4-BE49-F238E27FC236}">
                <a16:creationId xmlns:a16="http://schemas.microsoft.com/office/drawing/2014/main" id="{EFA2D73F-AE68-4B3A-806A-173A2CB2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0F4C81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APPLICATION FRAMEWORK · PER-PLATFORM RECOMMENDATIONS</a:t>
            </a:r>
          </a:p>
        </p:txBody>
      </p:sp>
      <p:sp>
        <p:nvSpPr>
          <p:cNvPr id="2" name="headline-10">
            <a:extLst xmlns:a="http://schemas.openxmlformats.org/drawingml/2006/main">
              <a:ext uri="{FF2B5EF4-FFF2-40B4-BE49-F238E27FC236}">
                <a16:creationId xmlns:a16="http://schemas.microsoft.com/office/drawing/2014/main" id="{E6E5D0D6-3DD3-4A49-B496-B47D0347E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108966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175" b="1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2175" b="1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Five platform contexts require distinct two-error budgets before advancement</a:t>
            </a:r>
          </a:p>
        </p:txBody>
      </p:sp>
      <p:sp>
        <p:nvSpPr>
          <p:cNvPr id="3" name="app-top">
            <a:extLst xmlns:a="http://schemas.openxmlformats.org/drawingml/2006/main">
              <a:ext uri="{FF2B5EF4-FFF2-40B4-BE49-F238E27FC236}">
                <a16:creationId xmlns:a16="http://schemas.microsoft.com/office/drawing/2014/main" id="{E42B9DA3-C9A0-47CE-950C-797433AB3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10591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F4C81"/>
            </a:solidFill>
            <a:prstDash val="solid"/>
          </a:ln>
        </p:spPr>
      </p:sp>
      <p:sp>
        <p:nvSpPr>
          <p:cNvPr id="4" name="app-h-0">
            <a:extLst xmlns:a="http://schemas.openxmlformats.org/drawingml/2006/main">
              <a:ext uri="{FF2B5EF4-FFF2-40B4-BE49-F238E27FC236}">
                <a16:creationId xmlns:a16="http://schemas.microsoft.com/office/drawing/2014/main" id="{01DFEBA7-D755-45C5-A184-59BFB5B33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 i="0">
                <a:solidFill>
                  <a:srgbClr val="0F4C81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PLATFORM</a:t>
            </a:r>
          </a:p>
        </p:txBody>
      </p:sp>
      <p:sp>
        <p:nvSpPr>
          <p:cNvPr id="5" name="app-h-1">
            <a:extLst xmlns:a="http://schemas.openxmlformats.org/drawingml/2006/main">
              <a:ext uri="{FF2B5EF4-FFF2-40B4-BE49-F238E27FC236}">
                <a16:creationId xmlns:a16="http://schemas.microsoft.com/office/drawing/2014/main" id="{5A8FB097-597A-42F5-8088-18F2FA51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228850"/>
            <a:ext cx="3219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 i="0">
                <a:solidFill>
                  <a:srgbClr val="0F4C81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COSTLIER ERROR</a:t>
            </a:r>
          </a:p>
        </p:txBody>
      </p:sp>
      <p:sp>
        <p:nvSpPr>
          <p:cNvPr id="6" name="app-h-2">
            <a:extLst xmlns:a="http://schemas.openxmlformats.org/drawingml/2006/main">
              <a:ext uri="{FF2B5EF4-FFF2-40B4-BE49-F238E27FC236}">
                <a16:creationId xmlns:a16="http://schemas.microsoft.com/office/drawing/2014/main" id="{3DF9D24B-1B7C-4BD4-B499-A4C6B34DA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28850"/>
            <a:ext cx="531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00" b="1" i="0">
                <a:solidFill>
                  <a:srgbClr val="0F4C81"/>
                </a:solidFill>
                <a:latin typeface="Calibri"/>
                <a:ea typeface="Calibri"/>
                <a:cs typeface="Calibri"/>
              </a:defRPr>
            </a:pPr>
            <a:r>
              <a:rPr sz="900" b="1" i="0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RESEARCH ACTION BEFORE ADVANCEMENT</a:t>
            </a:r>
          </a:p>
        </p:txBody>
      </p:sp>
      <p:sp>
        <p:nvSpPr>
          <p:cNvPr id="7" name="app-bottom">
            <a:extLst xmlns:a="http://schemas.openxmlformats.org/drawingml/2006/main">
              <a:ext uri="{FF2B5EF4-FFF2-40B4-BE49-F238E27FC236}">
                <a16:creationId xmlns:a16="http://schemas.microsoft.com/office/drawing/2014/main" id="{A1116FFF-E0D7-4188-BA20-D726DDEBF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2700"/>
            <a:ext cx="1059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8" name="app-row-0-0">
            <a:extLst xmlns:a="http://schemas.openxmlformats.org/drawingml/2006/main">
              <a:ext uri="{FF2B5EF4-FFF2-40B4-BE49-F238E27FC236}">
                <a16:creationId xmlns:a16="http://schemas.microsoft.com/office/drawing/2014/main" id="{302708A8-2856-4443-B9DA-11A3BBF3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2700"/>
            <a:ext cx="2057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13" b="1" i="0">
                <a:solidFill>
                  <a:srgbClr val="0F4C81"/>
                </a:solidFill>
                <a:latin typeface="Calibri"/>
                <a:ea typeface="Calibri"/>
                <a:cs typeface="Calibri"/>
              </a:defRPr>
            </a:pPr>
            <a:r>
              <a:rPr sz="1013" b="1" i="0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Sentinel</a:t>
            </a:r>
          </a:p>
        </p:txBody>
      </p:sp>
      <p:sp>
        <p:nvSpPr>
          <p:cNvPr id="9" name="app-row-0-1">
            <a:extLst xmlns:a="http://schemas.openxmlformats.org/drawingml/2006/main">
              <a:ext uri="{FF2B5EF4-FFF2-40B4-BE49-F238E27FC236}">
                <a16:creationId xmlns:a16="http://schemas.microsoft.com/office/drawing/2014/main" id="{801BAC3A-4F7C-4DF0-8331-55376343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552700"/>
            <a:ext cx="32194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13" b="0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013" b="0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Boundary action / refusal</a:t>
            </a:r>
          </a:p>
        </p:txBody>
      </p:sp>
      <p:sp>
        <p:nvSpPr>
          <p:cNvPr id="10" name="app-row-0-2">
            <a:extLst xmlns:a="http://schemas.openxmlformats.org/drawingml/2006/main">
              <a:ext uri="{FF2B5EF4-FFF2-40B4-BE49-F238E27FC236}">
                <a16:creationId xmlns:a16="http://schemas.microsoft.com/office/drawing/2014/main" id="{18284E70-4F91-4320-8884-E2AAAE92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52700"/>
            <a:ext cx="53149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13" b="0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013" b="0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Replicate both endpoints with operator deferral; predeclare the refusal budget.</a:t>
            </a:r>
          </a:p>
        </p:txBody>
      </p:sp>
      <p:sp>
        <p:nvSpPr>
          <p:cNvPr id="11" name="app-row-0-rule">
            <a:extLst xmlns:a="http://schemas.openxmlformats.org/drawingml/2006/main">
              <a:ext uri="{FF2B5EF4-FFF2-40B4-BE49-F238E27FC236}">
                <a16:creationId xmlns:a16="http://schemas.microsoft.com/office/drawing/2014/main" id="{9CA901C3-A905-4E39-AF3F-D1CF67769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52775"/>
            <a:ext cx="1059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12" name="app-row-1-0">
            <a:extLst xmlns:a="http://schemas.openxmlformats.org/drawingml/2006/main">
              <a:ext uri="{FF2B5EF4-FFF2-40B4-BE49-F238E27FC236}">
                <a16:creationId xmlns:a16="http://schemas.microsoft.com/office/drawing/2014/main" id="{ADF5A24B-A3CB-45F5-91DD-146DD729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52775"/>
            <a:ext cx="2057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13" b="1" i="0">
                <a:solidFill>
                  <a:srgbClr val="0F4C81"/>
                </a:solidFill>
                <a:latin typeface="Calibri"/>
                <a:ea typeface="Calibri"/>
                <a:cs typeface="Calibri"/>
              </a:defRPr>
            </a:pPr>
            <a:r>
              <a:rPr sz="1013" b="1" i="0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Aido Humanoid</a:t>
            </a:r>
          </a:p>
        </p:txBody>
      </p:sp>
      <p:sp>
        <p:nvSpPr>
          <p:cNvPr id="13" name="app-row-1-1">
            <a:extLst xmlns:a="http://schemas.openxmlformats.org/drawingml/2006/main">
              <a:ext uri="{FF2B5EF4-FFF2-40B4-BE49-F238E27FC236}">
                <a16:creationId xmlns:a16="http://schemas.microsoft.com/office/drawing/2014/main" id="{1BCB331A-DC28-4B82-B815-5EA7A940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152775"/>
            <a:ext cx="32194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13" b="0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013" b="0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Unsafe care / care delay</a:t>
            </a:r>
          </a:p>
        </p:txBody>
      </p:sp>
      <p:sp>
        <p:nvSpPr>
          <p:cNvPr id="14" name="app-row-1-2">
            <a:extLst xmlns:a="http://schemas.openxmlformats.org/drawingml/2006/main">
              <a:ext uri="{FF2B5EF4-FFF2-40B4-BE49-F238E27FC236}">
                <a16:creationId xmlns:a16="http://schemas.microsoft.com/office/drawing/2014/main" id="{DFDA2886-DFB1-4C27-AAD7-FCF3C995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52775"/>
            <a:ext cx="53149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13" b="0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013" b="0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Validate multimodal state and actuation constraints with human override.</a:t>
            </a:r>
          </a:p>
        </p:txBody>
      </p:sp>
      <p:sp>
        <p:nvSpPr>
          <p:cNvPr id="15" name="app-row-1-rule">
            <a:extLst xmlns:a="http://schemas.openxmlformats.org/drawingml/2006/main">
              <a:ext uri="{FF2B5EF4-FFF2-40B4-BE49-F238E27FC236}">
                <a16:creationId xmlns:a16="http://schemas.microsoft.com/office/drawing/2014/main" id="{2ED4820B-AAD7-4C30-BEFD-7DDCD0D8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1059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16" name="app-row-2-0">
            <a:extLst xmlns:a="http://schemas.openxmlformats.org/drawingml/2006/main">
              <a:ext uri="{FF2B5EF4-FFF2-40B4-BE49-F238E27FC236}">
                <a16:creationId xmlns:a16="http://schemas.microsoft.com/office/drawing/2014/main" id="{2D9CC50E-7449-48AD-8D66-4B9493CE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2057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13" b="1" i="0">
                <a:solidFill>
                  <a:srgbClr val="0F4C81"/>
                </a:solidFill>
                <a:latin typeface="Calibri"/>
                <a:ea typeface="Calibri"/>
                <a:cs typeface="Calibri"/>
              </a:defRPr>
            </a:pPr>
            <a:r>
              <a:rPr sz="1013" b="1" i="0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Fari</a:t>
            </a:r>
          </a:p>
        </p:txBody>
      </p:sp>
      <p:sp>
        <p:nvSpPr>
          <p:cNvPr id="17" name="app-row-2-1">
            <a:extLst xmlns:a="http://schemas.openxmlformats.org/drawingml/2006/main">
              <a:ext uri="{FF2B5EF4-FFF2-40B4-BE49-F238E27FC236}">
                <a16:creationId xmlns:a16="http://schemas.microsoft.com/office/drawing/2014/main" id="{9D107146-0FAE-40BE-887B-B7E77FBC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752850"/>
            <a:ext cx="32194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13" b="0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013" b="0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Disclosure / self-service refusal</a:t>
            </a:r>
          </a:p>
        </p:txBody>
      </p:sp>
      <p:sp>
        <p:nvSpPr>
          <p:cNvPr id="18" name="app-row-2-2">
            <a:extLst xmlns:a="http://schemas.openxmlformats.org/drawingml/2006/main">
              <a:ext uri="{FF2B5EF4-FFF2-40B4-BE49-F238E27FC236}">
                <a16:creationId xmlns:a16="http://schemas.microsoft.com/office/drawing/2014/main" id="{B13A4455-A2C0-4110-ADAD-8B1D98EA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52850"/>
            <a:ext cx="53149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13" b="0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013" b="0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Test retrieval over versioned authorization records in blinded paired trials.</a:t>
            </a:r>
          </a:p>
        </p:txBody>
      </p:sp>
      <p:sp>
        <p:nvSpPr>
          <p:cNvPr id="19" name="app-row-2-rule">
            <a:extLst xmlns:a="http://schemas.openxmlformats.org/drawingml/2006/main">
              <a:ext uri="{FF2B5EF4-FFF2-40B4-BE49-F238E27FC236}">
                <a16:creationId xmlns:a16="http://schemas.microsoft.com/office/drawing/2014/main" id="{6C19291F-6747-4CAF-8C89-DC3D34F2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52925"/>
            <a:ext cx="1059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20" name="app-row-3-0">
            <a:extLst xmlns:a="http://schemas.openxmlformats.org/drawingml/2006/main">
              <a:ext uri="{FF2B5EF4-FFF2-40B4-BE49-F238E27FC236}">
                <a16:creationId xmlns:a16="http://schemas.microsoft.com/office/drawing/2014/main" id="{04BC3021-4D5B-4F70-B4B5-F3CAAADE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52925"/>
            <a:ext cx="2057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13" b="1" i="0">
                <a:solidFill>
                  <a:srgbClr val="0F4C81"/>
                </a:solidFill>
                <a:latin typeface="Calibri"/>
                <a:ea typeface="Calibri"/>
                <a:cs typeface="Calibri"/>
              </a:defRPr>
            </a:pPr>
            <a:r>
              <a:rPr sz="1013" b="1" i="0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Senpai</a:t>
            </a:r>
          </a:p>
        </p:txBody>
      </p:sp>
      <p:sp>
        <p:nvSpPr>
          <p:cNvPr id="21" name="app-row-3-1">
            <a:extLst xmlns:a="http://schemas.openxmlformats.org/drawingml/2006/main">
              <a:ext uri="{FF2B5EF4-FFF2-40B4-BE49-F238E27FC236}">
                <a16:creationId xmlns:a16="http://schemas.microsoft.com/office/drawing/2014/main" id="{BE54C06C-20CE-4880-A1DA-C9696093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352925"/>
            <a:ext cx="32194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13" b="0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013" b="0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Safeguarding / completion</a:t>
            </a:r>
          </a:p>
        </p:txBody>
      </p:sp>
      <p:sp>
        <p:nvSpPr>
          <p:cNvPr id="22" name="app-row-3-2">
            <a:extLst xmlns:a="http://schemas.openxmlformats.org/drawingml/2006/main">
              <a:ext uri="{FF2B5EF4-FFF2-40B4-BE49-F238E27FC236}">
                <a16:creationId xmlns:a16="http://schemas.microsoft.com/office/drawing/2014/main" id="{5AE49A18-FF20-48EE-B645-13839D7EB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352925"/>
            <a:ext cx="53149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13" b="0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013" b="0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Test interruption and recovery; declare unsafe and routine-refusal budgets.</a:t>
            </a:r>
          </a:p>
        </p:txBody>
      </p:sp>
      <p:sp>
        <p:nvSpPr>
          <p:cNvPr id="23" name="app-row-3-rule">
            <a:extLst xmlns:a="http://schemas.openxmlformats.org/drawingml/2006/main">
              <a:ext uri="{FF2B5EF4-FFF2-40B4-BE49-F238E27FC236}">
                <a16:creationId xmlns:a16="http://schemas.microsoft.com/office/drawing/2014/main" id="{8847AECD-0987-4D17-8008-827F1BDB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1059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24" name="app-row-4-0">
            <a:extLst xmlns:a="http://schemas.openxmlformats.org/drawingml/2006/main">
              <a:ext uri="{FF2B5EF4-FFF2-40B4-BE49-F238E27FC236}">
                <a16:creationId xmlns:a16="http://schemas.microsoft.com/office/drawing/2014/main" id="{FE349FC2-C442-4816-8EEA-2645660E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20574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13" b="1" i="0">
                <a:solidFill>
                  <a:srgbClr val="0F4C81"/>
                </a:solidFill>
                <a:latin typeface="Calibri"/>
                <a:ea typeface="Calibri"/>
                <a:cs typeface="Calibri"/>
              </a:defRPr>
            </a:pPr>
            <a:r>
              <a:rPr sz="1013" b="1" i="0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Aido Rover</a:t>
            </a:r>
          </a:p>
        </p:txBody>
      </p:sp>
      <p:sp>
        <p:nvSpPr>
          <p:cNvPr id="25" name="app-row-4-1">
            <a:extLst xmlns:a="http://schemas.openxmlformats.org/drawingml/2006/main">
              <a:ext uri="{FF2B5EF4-FFF2-40B4-BE49-F238E27FC236}">
                <a16:creationId xmlns:a16="http://schemas.microsoft.com/office/drawing/2014/main" id="{6BA6A494-07D6-4378-99E8-C8B08ADD4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953000"/>
            <a:ext cx="32194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13" b="0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013" b="0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Perception / reassigned risk</a:t>
            </a:r>
          </a:p>
        </p:txBody>
      </p:sp>
      <p:sp>
        <p:nvSpPr>
          <p:cNvPr id="26" name="app-row-4-2">
            <a:extLst xmlns:a="http://schemas.openxmlformats.org/drawingml/2006/main">
              <a:ext uri="{FF2B5EF4-FFF2-40B4-BE49-F238E27FC236}">
                <a16:creationId xmlns:a16="http://schemas.microsoft.com/office/drawing/2014/main" id="{31CD1A1B-902A-4732-A3E6-B8AF5B52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953000"/>
            <a:ext cx="53149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13" b="0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013" b="0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Build multimodal OOD and multi-agent tests before selecting an intervention.</a:t>
            </a:r>
          </a:p>
        </p:txBody>
      </p:sp>
      <p:sp>
        <p:nvSpPr>
          <p:cNvPr id="27" name="app-row-4-rule">
            <a:extLst xmlns:a="http://schemas.openxmlformats.org/drawingml/2006/main">
              <a:ext uri="{FF2B5EF4-FFF2-40B4-BE49-F238E27FC236}">
                <a16:creationId xmlns:a16="http://schemas.microsoft.com/office/drawing/2014/main" id="{4652DF31-A0B7-4235-8569-8ED9A78A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53075"/>
            <a:ext cx="10591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28" name="source-10">
            <a:extLst xmlns:a="http://schemas.openxmlformats.org/drawingml/2006/main">
              <a:ext uri="{FF2B5EF4-FFF2-40B4-BE49-F238E27FC236}">
                <a16:creationId xmlns:a16="http://schemas.microsoft.com/office/drawing/2014/main" id="{F75E07AD-99DC-4DBC-A642-551C9A4D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70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63" b="0" i="0">
                <a:solidFill>
                  <a:srgbClr val="5C5C6D"/>
                </a:solidFill>
                <a:latin typeface="Calibri"/>
                <a:ea typeface="Calibri"/>
                <a:cs typeface="Calibri"/>
              </a:defRPr>
            </a:pPr>
            <a:r>
              <a:rPr sz="863" b="0" i="0">
                <a:solidFill>
                  <a:srgbClr val="5C5C6D"/>
                </a:solidFill>
                <a:latin typeface="Calibri"/>
                <a:ea typeface="Calibri"/>
                <a:cs typeface="Calibri"/>
              </a:rPr>
              <a:t>Source: Application framework; recommendations are research gates, not deployment approvals.</a:t>
            </a:r>
          </a:p>
        </p:txBody>
      </p:sp>
    </p:spTree>
    <p:extLst>
      <p:ext uri="{BB962C8B-B14F-4D97-AF65-F5344CB8AC3E}">
        <p14:creationId xmlns:p14="http://schemas.microsoft.com/office/powerpoint/2010/main" val="38680161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label-11">
            <a:extLst xmlns:a="http://schemas.openxmlformats.org/drawingml/2006/main">
              <a:ext uri="{FF2B5EF4-FFF2-40B4-BE49-F238E27FC236}">
                <a16:creationId xmlns:a16="http://schemas.microsoft.com/office/drawing/2014/main" id="{93795912-0D85-46AB-A278-E69BC799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0F4C81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LIMITATIONS · OPEN QUESTIONS</a:t>
            </a:r>
          </a:p>
        </p:txBody>
      </p:sp>
      <p:sp>
        <p:nvSpPr>
          <p:cNvPr id="2" name="headline-11">
            <a:extLst xmlns:a="http://schemas.openxmlformats.org/drawingml/2006/main">
              <a:ext uri="{FF2B5EF4-FFF2-40B4-BE49-F238E27FC236}">
                <a16:creationId xmlns:a16="http://schemas.microsoft.com/office/drawing/2014/main" id="{C4F96EB8-E41D-478E-865C-9903022D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108966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175" b="1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2175" b="1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Two generators and one false-negative-only stress model leave four priority validations open</a:t>
            </a:r>
          </a:p>
        </p:txBody>
      </p:sp>
      <p:sp>
        <p:nvSpPr>
          <p:cNvPr id="3" name="limits-head">
            <a:extLst xmlns:a="http://schemas.openxmlformats.org/drawingml/2006/main">
              <a:ext uri="{FF2B5EF4-FFF2-40B4-BE49-F238E27FC236}">
                <a16:creationId xmlns:a16="http://schemas.microsoft.com/office/drawing/2014/main" id="{5AC50927-47BE-4717-A67C-93682B1B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 i="0">
                <a:solidFill>
                  <a:srgbClr val="0F4C81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EVIDENCE BOUNDARIES</a:t>
            </a:r>
          </a:p>
        </p:txBody>
      </p:sp>
      <p:sp>
        <p:nvSpPr>
          <p:cNvPr id="4" name="limits-body">
            <a:extLst xmlns:a="http://schemas.openxmlformats.org/drawingml/2006/main">
              <a:ext uri="{FF2B5EF4-FFF2-40B4-BE49-F238E27FC236}">
                <a16:creationId xmlns:a16="http://schemas.microsoft.com/office/drawing/2014/main" id="{64E29398-8E84-4665-83F7-A3BAF7CE7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4762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10"/>
              </a:spcAft>
              <a:defRPr sz="1238" b="0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Synthetic, text-only scenarios</a:t>
            </a:r>
            <a:r>
              <a:rPr sz="1650" b="0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 omit perception, actuation, latency, and operator workflow.</a:t>
            </a:r>
          </a:p>
          <a:p xmlns:a="http://schemas.openxmlformats.org/drawingml/2006/main">
            <a:pPr algn="l">
              <a:spcAft>
                <a:spcPts val="10"/>
              </a:spcAft>
              <a:defRPr sz="1238" b="0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Two 7B pipelines</a:t>
            </a:r>
            <a:r>
              <a:rPr sz="1650" b="0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 do not establish generator-family generalization.</a:t>
            </a:r>
          </a:p>
          <a:p xmlns:a="http://schemas.openxmlformats.org/drawingml/2006/main">
            <a:pPr algn="l">
              <a:spcAft>
                <a:spcPts val="10"/>
              </a:spcAft>
              <a:defRPr sz="1238" b="0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Amended panel acceptance</a:t>
            </a:r>
            <a:r>
              <a:rPr sz="1650" b="0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 leaves false-positive behavior unestimated.</a:t>
            </a:r>
          </a:p>
          <a:p xmlns:a="http://schemas.openxmlformats.org/drawingml/2006/main">
            <a:pPr algn="l">
              <a:spcAft>
                <a:spcPts val="0"/>
              </a:spcAft>
              <a:defRPr sz="1238" b="0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Pressure factors remain confounded</a:t>
            </a:r>
            <a:r>
              <a:rPr sz="1650" b="0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 across tactic, wording, salience, and family.</a:t>
            </a:r>
          </a:p>
        </p:txBody>
      </p:sp>
      <p:sp>
        <p:nvSpPr>
          <p:cNvPr id="5" name="limits-divider">
            <a:extLst xmlns:a="http://schemas.openxmlformats.org/drawingml/2006/main">
              <a:ext uri="{FF2B5EF4-FFF2-40B4-BE49-F238E27FC236}">
                <a16:creationId xmlns:a16="http://schemas.microsoft.com/office/drawing/2014/main" id="{5CF7AE98-9235-49F5-BD7A-1A514217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286000"/>
            <a:ext cx="9525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solidFill>
              <a:srgbClr val="D5DEE8"/>
            </a:solidFill>
            <a:prstDash val="solid"/>
          </a:ln>
        </p:spPr>
      </p:sp>
      <p:sp>
        <p:nvSpPr>
          <p:cNvPr id="6" name="valid-head">
            <a:extLst xmlns:a="http://schemas.openxmlformats.org/drawingml/2006/main">
              <a:ext uri="{FF2B5EF4-FFF2-40B4-BE49-F238E27FC236}">
                <a16:creationId xmlns:a16="http://schemas.microsoft.com/office/drawing/2014/main" id="{72032038-2D41-4B22-BE44-E0033A8D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241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 i="0">
                <a:solidFill>
                  <a:srgbClr val="0F4C81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FOUR PRIORITY VALIDATIONS</a:t>
            </a:r>
          </a:p>
        </p:txBody>
      </p:sp>
      <p:sp>
        <p:nvSpPr>
          <p:cNvPr id="7" name="valid-body">
            <a:extLst xmlns:a="http://schemas.openxmlformats.org/drawingml/2006/main">
              <a:ext uri="{FF2B5EF4-FFF2-40B4-BE49-F238E27FC236}">
                <a16:creationId xmlns:a16="http://schemas.microsoft.com/office/drawing/2014/main" id="{661ED148-B439-4F36-A727-494ED7BAB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00350"/>
            <a:ext cx="4762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10"/>
              </a:spcAft>
              <a:defRPr sz="1275" b="0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700" b="1" i="0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1 · </a:t>
            </a:r>
            <a:r>
              <a:rPr sz="1700" b="0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Blind human labels in both error directions.</a:t>
            </a:r>
          </a:p>
          <a:p xmlns:a="http://schemas.openxmlformats.org/drawingml/2006/main">
            <a:pPr algn="l">
              <a:spcAft>
                <a:spcPts val="10"/>
              </a:spcAft>
              <a:defRPr sz="1275" b="0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700" b="1" i="0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2 · </a:t>
            </a:r>
            <a:r>
              <a:rPr sz="1700" b="0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A third disjoint generator family.</a:t>
            </a:r>
          </a:p>
          <a:p xmlns:a="http://schemas.openxmlformats.org/drawingml/2006/main">
            <a:pPr algn="l">
              <a:spcAft>
                <a:spcPts val="10"/>
              </a:spcAft>
              <a:defRPr sz="1275" b="0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700" b="1" i="0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3 · </a:t>
            </a:r>
            <a:r>
              <a:rPr sz="1700" b="0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A calibrated execute / refuse / escalate policy.</a:t>
            </a:r>
          </a:p>
          <a:p xmlns:a="http://schemas.openxmlformats.org/drawingml/2006/main">
            <a:pPr algn="l">
              <a:spcAft>
                <a:spcPts val="0"/>
              </a:spcAft>
              <a:defRPr sz="1275" b="0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700" b="1" i="0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4 · </a:t>
            </a:r>
            <a:r>
              <a:rPr sz="1700" b="0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A registered 2×2 salience-by-pressure factorial.</a:t>
            </a:r>
          </a:p>
        </p:txBody>
      </p:sp>
      <p:sp>
        <p:nvSpPr>
          <p:cNvPr id="8" name="source-11">
            <a:extLst xmlns:a="http://schemas.openxmlformats.org/drawingml/2006/main">
              <a:ext uri="{FF2B5EF4-FFF2-40B4-BE49-F238E27FC236}">
                <a16:creationId xmlns:a16="http://schemas.microsoft.com/office/drawing/2014/main" id="{5355F4A8-407E-4F0F-9C25-1B570F6D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70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63" b="0" i="0">
                <a:solidFill>
                  <a:srgbClr val="5C5C6D"/>
                </a:solidFill>
                <a:latin typeface="Calibri"/>
                <a:ea typeface="Calibri"/>
                <a:cs typeface="Calibri"/>
              </a:defRPr>
            </a:pPr>
            <a:r>
              <a:rPr sz="863" b="0" i="0">
                <a:solidFill>
                  <a:srgbClr val="5C5C6D"/>
                </a:solidFill>
                <a:latin typeface="Calibri"/>
                <a:ea typeface="Calibri"/>
                <a:cs typeface="Calibri"/>
              </a:rPr>
              <a:t>Source: Capstone Report, Limitations and Future Research.</a:t>
            </a:r>
          </a:p>
        </p:txBody>
      </p:sp>
    </p:spTree>
    <p:extLst>
      <p:ext uri="{BB962C8B-B14F-4D97-AF65-F5344CB8AC3E}">
        <p14:creationId xmlns:p14="http://schemas.microsoft.com/office/powerpoint/2010/main" val="38680161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label-12">
            <a:extLst xmlns:a="http://schemas.openxmlformats.org/drawingml/2006/main">
              <a:ext uri="{FF2B5EF4-FFF2-40B4-BE49-F238E27FC236}">
                <a16:creationId xmlns:a16="http://schemas.microsoft.com/office/drawing/2014/main" id="{93838C88-537E-4538-9556-1BA9421C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0F4C81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PAPER DRAFT · CONTRIBUTION SUMMARY</a:t>
            </a:r>
          </a:p>
        </p:txBody>
      </p:sp>
      <p:sp>
        <p:nvSpPr>
          <p:cNvPr id="2" name="headline-12">
            <a:extLst xmlns:a="http://schemas.openxmlformats.org/drawingml/2006/main">
              <a:ext uri="{FF2B5EF4-FFF2-40B4-BE49-F238E27FC236}">
                <a16:creationId xmlns:a16="http://schemas.microsoft.com/office/drawing/2014/main" id="{464102DF-FC54-466F-9370-E1A72845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108966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100" b="1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2100" b="1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The paper contributes one confirmatory comparison, three descriptive or exploratory analyses, and one proposed application</a:t>
            </a:r>
          </a:p>
        </p:txBody>
      </p:sp>
      <p:sp>
        <p:nvSpPr>
          <p:cNvPr id="3" name="paper-contributions">
            <a:extLst xmlns:a="http://schemas.openxmlformats.org/drawingml/2006/main">
              <a:ext uri="{FF2B5EF4-FFF2-40B4-BE49-F238E27FC236}">
                <a16:creationId xmlns:a16="http://schemas.microsoft.com/office/drawing/2014/main" id="{CB0AD06C-9F5D-4144-83EC-D6DABA5E1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10477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10"/>
              </a:spcAft>
              <a:defRPr sz="1313" b="0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750" b="1" i="0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C1 · Confirmatory · </a:t>
            </a:r>
            <a:r>
              <a:rPr sz="1750" b="0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Cross-generator comparison on two co-primary authorization errors.</a:t>
            </a:r>
          </a:p>
          <a:p xmlns:a="http://schemas.openxmlformats.org/drawingml/2006/main">
            <a:pPr algn="l">
              <a:spcAft>
                <a:spcPts val="10"/>
              </a:spcAft>
              <a:defRPr sz="1313" b="0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750" b="1" i="0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C2 · Descriptive · </a:t>
            </a:r>
            <a:r>
              <a:rPr sz="1750" b="0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Generator-specific disposition of three prompt interventions.</a:t>
            </a:r>
          </a:p>
          <a:p xmlns:a="http://schemas.openxmlformats.org/drawingml/2006/main">
            <a:pPr algn="l">
              <a:spcAft>
                <a:spcPts val="10"/>
              </a:spcAft>
              <a:defRPr sz="1313" b="0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750" b="1" i="0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C3 · Descriptive · </a:t>
            </a:r>
            <a:r>
              <a:rPr sz="1750" b="0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Lexical and semantic endpoints support different conclusions.</a:t>
            </a:r>
          </a:p>
          <a:p xmlns:a="http://schemas.openxmlformats.org/drawingml/2006/main">
            <a:pPr algn="l">
              <a:spcAft>
                <a:spcPts val="10"/>
              </a:spcAft>
              <a:defRPr sz="1313" b="0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750" b="1" i="0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C4 · Exploratory · </a:t>
            </a:r>
            <a:r>
              <a:rPr sz="1750" b="0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Plain/pressured reversal is sensitive to the design stack.</a:t>
            </a:r>
          </a:p>
          <a:p xmlns:a="http://schemas.openxmlformats.org/drawingml/2006/main">
            <a:pPr algn="l">
              <a:spcAft>
                <a:spcPts val="0"/>
              </a:spcAft>
              <a:defRPr sz="1313" b="0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750" b="1" i="0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C5 · Proposed · </a:t>
            </a:r>
            <a:r>
              <a:rPr sz="1750" b="0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PIC 2.0 and the platform framework map evidence to research gates.</a:t>
            </a:r>
          </a:p>
        </p:txBody>
      </p:sp>
      <p:sp>
        <p:nvSpPr>
          <p:cNvPr id="4" name="paper-boundary">
            <a:extLst xmlns:a="http://schemas.openxmlformats.org/drawingml/2006/main">
              <a:ext uri="{FF2B5EF4-FFF2-40B4-BE49-F238E27FC236}">
                <a16:creationId xmlns:a16="http://schemas.microsoft.com/office/drawing/2014/main" id="{69EA7374-42F1-4098-B373-C5F89299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768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38" b="0" i="0">
                <a:solidFill>
                  <a:srgbClr val="5C5C6D"/>
                </a:solidFill>
                <a:latin typeface="Calibri"/>
                <a:ea typeface="Calibri"/>
                <a:cs typeface="Calibri"/>
              </a:defRPr>
            </a:pPr>
            <a:r>
              <a:rPr sz="1238" b="0" i="0">
                <a:solidFill>
                  <a:srgbClr val="5C5C6D"/>
                </a:solidFill>
                <a:latin typeface="Calibri"/>
                <a:ea typeface="Calibri"/>
                <a:cs typeface="Calibri"/>
              </a:rPr>
              <a:t>Evidence boundary · two pinned 7B pipelines, synthetic text scenarios, and no deployed robot or proprietary module.</a:t>
            </a:r>
          </a:p>
        </p:txBody>
      </p:sp>
      <p:sp>
        <p:nvSpPr>
          <p:cNvPr id="5" name="source-12">
            <a:extLst xmlns:a="http://schemas.openxmlformats.org/drawingml/2006/main">
              <a:ext uri="{FF2B5EF4-FFF2-40B4-BE49-F238E27FC236}">
                <a16:creationId xmlns:a16="http://schemas.microsoft.com/office/drawing/2014/main" id="{DFA7F411-4D0B-4948-AAF6-E7AA7374F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81700"/>
            <a:ext cx="1070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63" b="0" i="0">
                <a:solidFill>
                  <a:srgbClr val="5C5C6D"/>
                </a:solidFill>
                <a:latin typeface="Calibri"/>
                <a:ea typeface="Calibri"/>
                <a:cs typeface="Calibri"/>
              </a:defRPr>
            </a:pPr>
            <a:r>
              <a:rPr sz="863" b="0" i="0">
                <a:solidFill>
                  <a:srgbClr val="5C5C6D"/>
                </a:solidFill>
                <a:latin typeface="Calibri"/>
                <a:ea typeface="Calibri"/>
                <a:cs typeface="Calibri"/>
              </a:rPr>
              <a:t>Source: Paper draft v2 and registered C1–C5 claim hierarchy.</a:t>
            </a:r>
          </a:p>
        </p:txBody>
      </p:sp>
    </p:spTree>
    <p:extLst>
      <p:ext uri="{BB962C8B-B14F-4D97-AF65-F5344CB8AC3E}">
        <p14:creationId xmlns:p14="http://schemas.microsoft.com/office/powerpoint/2010/main" val="38680161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label-13">
            <a:extLst xmlns:a="http://schemas.openxmlformats.org/drawingml/2006/main">
              <a:ext uri="{FF2B5EF4-FFF2-40B4-BE49-F238E27FC236}">
                <a16:creationId xmlns:a16="http://schemas.microsoft.com/office/drawing/2014/main" id="{5365C3F3-AE1B-4035-9E32-8C743AA4D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0F4C81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KEY TAKEAWAYS · THREE FINDINGS, ONE RECOMMENDATION</a:t>
            </a:r>
          </a:p>
        </p:txBody>
      </p:sp>
      <p:sp>
        <p:nvSpPr>
          <p:cNvPr id="2" name="headline-13">
            <a:extLst xmlns:a="http://schemas.openxmlformats.org/drawingml/2006/main">
              <a:ext uri="{FF2B5EF4-FFF2-40B4-BE49-F238E27FC236}">
                <a16:creationId xmlns:a16="http://schemas.microsoft.com/office/drawing/2014/main" id="{C24B90EC-E610-49ED-9487-B21BDBA5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108966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175" b="1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2175" b="1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Three findings support one recommendation: report both errors and evaluate deferral separately</a:t>
            </a:r>
          </a:p>
        </p:txBody>
      </p:sp>
      <p:sp>
        <p:nvSpPr>
          <p:cNvPr id="3" name="takeaways">
            <a:extLst xmlns:a="http://schemas.openxmlformats.org/drawingml/2006/main">
              <a:ext uri="{FF2B5EF4-FFF2-40B4-BE49-F238E27FC236}">
                <a16:creationId xmlns:a16="http://schemas.microsoft.com/office/drawing/2014/main" id="{32CB278E-B841-4544-8C3E-D9F5C7DA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10477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10"/>
              </a:spcAft>
              <a:defRPr sz="1350" b="0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1 · Generator choice sets the operating point. </a:t>
            </a:r>
            <a:r>
              <a:rPr sz="1800" b="0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Qwen changes plain, pressured, and authorized-refusal rates by −55.0, −40.1, and +18.8 percentage points.</a:t>
            </a:r>
          </a:p>
          <a:p xmlns:a="http://schemas.openxmlformats.org/drawingml/2006/main">
            <a:pPr algn="l">
              <a:spcAft>
                <a:spcPts val="10"/>
              </a:spcAft>
              <a:defRPr sz="1350" b="0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2 · Prompt effects do not transfer. </a:t>
            </a:r>
            <a:r>
              <a:rPr sz="1800" b="0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Only Qwen with deliberation passed on the observed data, and that pass failed combined stress.</a:t>
            </a:r>
          </a:p>
          <a:p xmlns:a="http://schemas.openxmlformats.org/drawingml/2006/main">
            <a:pPr algn="l">
              <a:spcAft>
                <a:spcPts val="0"/>
              </a:spcAft>
              <a:defRPr sz="1350" b="0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3 · Measurement changes the conclusion. </a:t>
            </a:r>
            <a:r>
              <a:rPr sz="1800" b="0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Lexical structure can improve while the operational action remains unchanged.</a:t>
            </a:r>
          </a:p>
        </p:txBody>
      </p:sp>
      <p:sp>
        <p:nvSpPr>
          <p:cNvPr id="4" name="recommendation">
            <a:extLst xmlns:a="http://schemas.openxmlformats.org/drawingml/2006/main">
              <a:ext uri="{FF2B5EF4-FFF2-40B4-BE49-F238E27FC236}">
                <a16:creationId xmlns:a16="http://schemas.microsoft.com/office/drawing/2014/main" id="{6631D35B-8C0B-43D7-AF6D-5DF10769C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425" b="1" i="0">
                <a:solidFill>
                  <a:srgbClr val="0F4C81"/>
                </a:solidFill>
                <a:latin typeface="Calibri"/>
                <a:ea typeface="Calibri"/>
                <a:cs typeface="Calibri"/>
              </a:defRPr>
            </a:pPr>
            <a:r>
              <a:rPr sz="1425" b="1" i="0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Recommendation · score unsafe compliance and authorized refusal jointly; test calibrated deferral as a third action.</a:t>
            </a:r>
          </a:p>
        </p:txBody>
      </p:sp>
      <p:sp>
        <p:nvSpPr>
          <p:cNvPr id="5" name="source-13">
            <a:extLst xmlns:a="http://schemas.openxmlformats.org/drawingml/2006/main">
              <a:ext uri="{FF2B5EF4-FFF2-40B4-BE49-F238E27FC236}">
                <a16:creationId xmlns:a16="http://schemas.microsoft.com/office/drawing/2014/main" id="{3CC1AFC2-F2B0-4B11-B5F4-B7AFF40AB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24550"/>
            <a:ext cx="1070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63" b="0" i="0">
                <a:solidFill>
                  <a:srgbClr val="5C5C6D"/>
                </a:solidFill>
                <a:latin typeface="Calibri"/>
                <a:ea typeface="Calibri"/>
                <a:cs typeface="Calibri"/>
              </a:defRPr>
            </a:pPr>
            <a:r>
              <a:rPr sz="863" b="0" i="0">
                <a:solidFill>
                  <a:srgbClr val="5C5C6D"/>
                </a:solidFill>
                <a:latin typeface="Calibri"/>
                <a:ea typeface="Calibri"/>
                <a:cs typeface="Calibri"/>
              </a:rPr>
              <a:t>Source: Capstone Report, executive summary and conclusion.</a:t>
            </a:r>
          </a:p>
        </p:txBody>
      </p:sp>
    </p:spTree>
    <p:extLst>
      <p:ext uri="{BB962C8B-B14F-4D97-AF65-F5344CB8AC3E}">
        <p14:creationId xmlns:p14="http://schemas.microsoft.com/office/powerpoint/2010/main" val="38680161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label-14">
            <a:extLst xmlns:a="http://schemas.openxmlformats.org/drawingml/2006/main">
              <a:ext uri="{FF2B5EF4-FFF2-40B4-BE49-F238E27FC236}">
                <a16:creationId xmlns:a16="http://schemas.microsoft.com/office/drawing/2014/main" id="{11C92AAE-73F5-4226-A254-2D61C056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 i="0">
                <a:solidFill>
                  <a:srgbClr val="0F4C81"/>
                </a:solidFill>
                <a:latin typeface="Calibri"/>
                <a:ea typeface="Calibri"/>
                <a:cs typeface="Calibri"/>
              </a:defRPr>
            </a:pPr>
            <a:r>
              <a:rPr sz="1050" b="1" i="0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RETROSPECTIVE · NEXT STEPS</a:t>
            </a:r>
          </a:p>
        </p:txBody>
      </p:sp>
      <p:sp>
        <p:nvSpPr>
          <p:cNvPr id="2" name="headline-14">
            <a:extLst xmlns:a="http://schemas.openxmlformats.org/drawingml/2006/main">
              <a:ext uri="{FF2B5EF4-FFF2-40B4-BE49-F238E27FC236}">
                <a16:creationId xmlns:a16="http://schemas.microsoft.com/office/drawing/2014/main" id="{7E5950B8-553A-43B6-A815-CB236C25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108966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2250" b="1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The program moved through three measurement regimes; validation now precedes scale-up</a:t>
            </a:r>
          </a:p>
        </p:txBody>
      </p:sp>
      <p:sp>
        <p:nvSpPr>
          <p:cNvPr id="3" name="retrospective">
            <a:extLst xmlns:a="http://schemas.openxmlformats.org/drawingml/2006/main">
              <a:ext uri="{FF2B5EF4-FFF2-40B4-BE49-F238E27FC236}">
                <a16:creationId xmlns:a16="http://schemas.microsoft.com/office/drawing/2014/main" id="{A66543A8-C97B-477C-A0AB-C66E69FA0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10477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Aft>
                <a:spcPts val="10"/>
              </a:spcAft>
              <a:defRPr sz="1350" b="0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Weeks 3–5 · Lexical baseline · </a:t>
            </a:r>
            <a:r>
              <a:rPr sz="1800" b="0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taxonomy formation exposed prompt-to-rubric leakage.</a:t>
            </a:r>
          </a:p>
          <a:p xmlns:a="http://schemas.openxmlformats.org/drawingml/2006/main">
            <a:pPr algn="l">
              <a:spcAft>
                <a:spcPts val="10"/>
              </a:spcAft>
              <a:defRPr sz="1350" b="0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Week 6 · Semantic diagnostic · </a:t>
            </a:r>
            <a:r>
              <a:rPr sz="1800" b="0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execute-now labels, paired controls, and pressure isolated an authorization failure.</a:t>
            </a:r>
          </a:p>
          <a:p xmlns:a="http://schemas.openxmlformats.org/drawingml/2006/main">
            <a:pPr algn="l">
              <a:spcAft>
                <a:spcPts val="0"/>
              </a:spcAft>
              <a:defRPr sz="1350" b="0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800" b="1" i="0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Weeks 7–11 · Registered confirmation · </a:t>
            </a:r>
            <a:r>
              <a:rPr sz="1800" b="0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two generators, five seeds, calibrated panel review, and stress analysis bounded the claim.</a:t>
            </a:r>
          </a:p>
        </p:txBody>
      </p:sp>
      <p:sp>
        <p:nvSpPr>
          <p:cNvPr id="4" name="next-head">
            <a:extLst xmlns:a="http://schemas.openxmlformats.org/drawingml/2006/main">
              <a:ext uri="{FF2B5EF4-FFF2-40B4-BE49-F238E27FC236}">
                <a16:creationId xmlns:a16="http://schemas.microsoft.com/office/drawing/2014/main" id="{B5E49BB7-CFF1-402A-86EE-16AFFFB7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 i="0">
                <a:solidFill>
                  <a:srgbClr val="0F4C81"/>
                </a:solidFill>
                <a:latin typeface="Calibri"/>
                <a:ea typeface="Calibri"/>
                <a:cs typeface="Calibri"/>
              </a:defRPr>
            </a:pPr>
            <a:r>
              <a:rPr sz="1200" b="1" i="0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Next validation sequence</a:t>
            </a:r>
          </a:p>
        </p:txBody>
      </p:sp>
      <p:sp>
        <p:nvSpPr>
          <p:cNvPr id="5" name="next-line">
            <a:extLst xmlns:a="http://schemas.openxmlformats.org/drawingml/2006/main">
              <a:ext uri="{FF2B5EF4-FFF2-40B4-BE49-F238E27FC236}">
                <a16:creationId xmlns:a16="http://schemas.microsoft.com/office/drawing/2014/main" id="{D7D382A5-F3D3-45EC-AD6A-12EA7966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816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0" i="0">
                <a:solidFill>
                  <a:srgbClr val="1B1B31"/>
                </a:solidFill>
                <a:latin typeface="Calibri"/>
                <a:ea typeface="Calibri"/>
                <a:cs typeface="Calibri"/>
              </a:defRPr>
            </a:pPr>
            <a:r>
              <a:rPr sz="1350" b="0" i="0">
                <a:solidFill>
                  <a:srgbClr val="1B1B31"/>
                </a:solidFill>
                <a:latin typeface="Calibri"/>
                <a:ea typeface="Calibri"/>
                <a:cs typeface="Calibri"/>
              </a:rPr>
              <a:t>1  Human labels   →   2  Third generator   →   3  Calibrated deferral   →   4  Multimodal and fleet studies</a:t>
            </a:r>
          </a:p>
        </p:txBody>
      </p:sp>
      <p:sp>
        <p:nvSpPr>
          <p:cNvPr id="6" name="next-conclusion">
            <a:extLst xmlns:a="http://schemas.openxmlformats.org/drawingml/2006/main">
              <a:ext uri="{FF2B5EF4-FFF2-40B4-BE49-F238E27FC236}">
                <a16:creationId xmlns:a16="http://schemas.microsoft.com/office/drawing/2014/main" id="{933AFD69-7E87-464F-A05C-E9E3528F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959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38" b="1" i="0">
                <a:solidFill>
                  <a:srgbClr val="0F4C81"/>
                </a:solidFill>
                <a:latin typeface="Calibri"/>
                <a:ea typeface="Calibri"/>
                <a:cs typeface="Calibri"/>
              </a:defRPr>
            </a:pPr>
            <a:r>
              <a:rPr sz="1238" b="1" i="0">
                <a:solidFill>
                  <a:srgbClr val="0F4C81"/>
                </a:solidFill>
                <a:latin typeface="Calibri"/>
                <a:ea typeface="Calibri"/>
                <a:cs typeface="Calibri"/>
              </a:rPr>
              <a:t>Measurement credibility remains the gate for broader architecture and deployment claims.</a:t>
            </a:r>
          </a:p>
        </p:txBody>
      </p:sp>
      <p:sp>
        <p:nvSpPr>
          <p:cNvPr id="7" name="source-14">
            <a:extLst xmlns:a="http://schemas.openxmlformats.org/drawingml/2006/main">
              <a:ext uri="{FF2B5EF4-FFF2-40B4-BE49-F238E27FC236}">
                <a16:creationId xmlns:a16="http://schemas.microsoft.com/office/drawing/2014/main" id="{C336F6AE-BF03-40E7-BB3F-83A622C0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0"/>
            <a:ext cx="1070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63" b="0" i="0">
                <a:solidFill>
                  <a:srgbClr val="5C5C6D"/>
                </a:solidFill>
                <a:latin typeface="Calibri"/>
                <a:ea typeface="Calibri"/>
                <a:cs typeface="Calibri"/>
              </a:defRPr>
            </a:pPr>
            <a:r>
              <a:rPr sz="863" b="0" i="0">
                <a:solidFill>
                  <a:srgbClr val="5C5C6D"/>
                </a:solidFill>
                <a:latin typeface="Calibri"/>
                <a:ea typeface="Calibri"/>
                <a:cs typeface="Calibri"/>
              </a:rPr>
              <a:t>Source: Capstone Report, Cross-Experiment Synthesis and Future Research.</a:t>
            </a:r>
          </a:p>
        </p:txBody>
      </p:sp>
    </p:spTree>
    <p:extLst>
      <p:ext uri="{BB962C8B-B14F-4D97-AF65-F5344CB8AC3E}">
        <p14:creationId xmlns:p14="http://schemas.microsoft.com/office/powerpoint/2010/main" val="38680161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Microsoft Office PowerPoint</ap:Application>
  <ap:PresentationFormat>On-screen Show (16:9)</ap:PresentationFormat>
  <ap:Slides>14</ap:Slides>
  <ap:Notes>14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InGen Research Project</dc:creator>
  <lastModifiedBy>InGen Research Project</lastModifiedBy>
  <dc:title>Contested-Authority Robustness Research Review</dc:title>
  <dcterms:created xsi:type="dcterms:W3CDTF">2026-08-26T00:54:00.753Z</dcterms:created>
  <dcterms:modified xsi:type="dcterms:W3CDTF">2026-08-26T00:54:00.753Z</dcterms:modified>
</coreProperties>
</file>