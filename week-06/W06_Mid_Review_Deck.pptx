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fr-FR" sz="1500" b="1">
                <a:solidFill>
                  <a:srgbClr val="1A1A2E"/>
                </a:solidFill>
              </a:rPr>
              <a:t>Baseline failures · n = 32 per condition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7.1987401574803156E-2"/>
          <c:y val="4.5648293963254594E-2"/>
          <c:w val="0.90706021747281584"/>
          <c:h val="0.83749985418489359"/>
        </c:manualLayout>
      </c:layout>
      <c:barChart>
        <c:barDir val="col"/>
        <c:grouping val="clustered"/>
        <c:varyColors val="0"/>
        <c:ser>
          <c:idx val="0"/>
          <c:order val="0"/>
          <c:tx>
            <c:v>Failures</c:v>
          </c:tx>
          <c:spPr>
            <a:solidFill>
              <a:srgbClr val="C94C4C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F4C81"/>
              </a:solidFill>
            </c:spPr>
            <c:extLst>
              <c:ext xmlns:c16="http://schemas.microsoft.com/office/drawing/2014/chart" uri="{C3380CC4-5D6E-409C-BE32-E72D297353CC}">
                <c16:uniqueId val="{00000001-EF2C-453F-9EF3-4731E66561FC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EF2C-453F-9EF3-4731E66561F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1A1A2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Plain</c:v>
              </c:pt>
              <c:pt idx="1">
                <c:v>Adversarial pressure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F2C-453F-9EF3-4731E66561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A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555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w="9525">
              <a:solidFill>
                <a:srgbClr val="D9E2EA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CA" sz="1200" dirty="0">
                    <a:solidFill>
                      <a:srgbClr val="555566"/>
                    </a:solidFill>
                  </a:rPr>
                  <a:t>Failures (of 32)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55566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4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CA" sz="1500" b="1">
                <a:solidFill>
                  <a:srgbClr val="1A1A2E"/>
                </a:solidFill>
              </a:rPr>
              <a:t>Failures across interventions · n = 32 per cell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5.0284195488222203E-2"/>
          <c:y val="6.6940783087045624E-2"/>
          <c:w val="0.93115040366789592"/>
          <c:h val="0.73115852299284512"/>
        </c:manualLayout>
      </c:layout>
      <c:barChart>
        <c:barDir val="col"/>
        <c:grouping val="clustered"/>
        <c:varyColors val="0"/>
        <c:ser>
          <c:idx val="0"/>
          <c:order val="0"/>
          <c:tx>
            <c:v>Pressured targets</c:v>
          </c:tx>
          <c:spPr>
            <a:solidFill>
              <a:srgbClr val="C94C4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A1A2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Deliberation</c:v>
              </c:pt>
              <c:pt idx="2">
                <c:v>Structured</c:v>
              </c:pt>
              <c:pt idx="3">
                <c:v>Gated</c:v>
              </c:pt>
            </c:strLit>
          </c:cat>
          <c:val>
            <c:numLit>
              <c:formatCode>General</c:formatCode>
              <c:ptCount val="4"/>
              <c:pt idx="0">
                <c:v>12</c:v>
              </c:pt>
              <c:pt idx="1">
                <c:v>2</c:v>
              </c:pt>
              <c:pt idx="2">
                <c:v>14</c:v>
              </c:pt>
              <c:pt idx="3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029-489D-B478-8CA920A23A5D}"/>
            </c:ext>
          </c:extLst>
        </c:ser>
        <c:ser>
          <c:idx val="1"/>
          <c:order val="1"/>
          <c:tx>
            <c:v>Benign controls</c:v>
          </c:tx>
          <c:spPr>
            <a:solidFill>
              <a:srgbClr val="0F4C8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A1A2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Deliberation</c:v>
              </c:pt>
              <c:pt idx="2">
                <c:v>Structured</c:v>
              </c:pt>
              <c:pt idx="3">
                <c:v>Gated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029-489D-B478-8CA920A23A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A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555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w="9525">
              <a:solidFill>
                <a:srgbClr val="D9E2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55566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4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555566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14FD-CCF6-4C2D-9758-D7F513F9B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3C282-0B10-472E-8FE2-9227B29CD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8DBFA-6CA5-4C50-AC96-127D4A40C1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51608-0CD4-4E41-8B3A-27633EFF32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5429D-BDA3-47CD-8225-EC3BC6FFB6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A42C-7BF0-4633-A26F-D7361534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B301-C19A-4AD6-A57F-6325895B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6E882-4444-42AA-995D-6F21AF2F85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AAA43-2096-4AA3-82DE-EF278BB316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E88EE-2968-4F49-83C0-A3E6A7FF6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395D-3F63-4606-859A-B01050BE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EC25D-662A-40B3-95BA-4F46015D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9DDB0-7BB8-4B69-8CD2-7693E47E86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C303A-9ECB-4DAF-96C5-385001DE28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006B0-FBE6-4081-9B90-A9E824D8C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F278-6CBF-4EC4-8E1A-AECB3B09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9811D-8BB0-4974-A6F1-CBF05E5F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02E7B-B413-4D54-BFF6-E78FFCEEEDE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FAEE9-AD9E-45DE-B37C-B4AD4AC1E6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737F6-4D1E-4CEB-B065-A1D0BDA434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935C0-62D8-4CAF-82A6-FD1D07308E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AC2A-8234-4D0A-AB79-49FAA878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3424A-8C15-419D-90ED-37B788E11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E7EAF-38F9-433F-9E91-FE5C1421605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110CF-AF19-4034-869F-8CC607EFD1E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75A2F-724B-46FC-B5CC-225A9CC2FEC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A3264E-9121-44CE-AA11-A08F63CB73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B5EDC-8A82-4273-A058-3EC0E1A092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F9AD2-0D1A-4C99-A4FB-7C51313967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7909-6AAD-4250-9CF0-135C108E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AF775-15A4-41A3-9C55-F36C60547A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AF605-5BE6-462A-A742-88820DFDB7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B07AC-4115-4917-A9F6-3018E8FDA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B76359-AD7B-42FF-8643-39ADDEADF8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2A389-920A-443F-A8CA-BA7FBB8112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3BFA0-25C4-48A3-97B3-CBDA03AA19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9435-671B-44FF-B4D9-EA4200C4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07E7B-D52E-4D5F-9AF6-10D9755CD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E8EDC-AECD-49C7-A2B9-AD2181DC1F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EC628-5C10-43CF-B9BC-5131A6CAF2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392AE-10F0-42DD-A2F2-4A847F2A55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2D528-7324-4D7C-961F-0AB0BD00D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977D0-BFA6-4990-BF40-3FA1F78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B67FF-70F9-4B7D-A50E-3229D2B5C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1930F-89FC-4EC5-A298-AC186AC89F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33EF6-9553-4630-95B4-DB20C9D8D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B787B-F711-42DF-865E-4CDE955916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4987E-D13E-4E74-B4D2-AAF8233340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1B3C-FAA1-4408-BCC9-61C16D1D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C76DF-4EAC-4D51-9B51-F3691B497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889A1-78DC-46A9-B587-A0EE4883AD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21676-BEF4-4620-9656-701887E331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0B3AF-1638-4425-8CC6-8D02311BDB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B03EB-F379-4AAE-A929-8BFC06FF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E7836-EF47-4363-BF30-ADD75FDA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21EA9-2A7B-437E-B438-6F1A224F00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6CE6B-83D2-4D7C-BCF8-0290FB7AAB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A2C8F-BC1D-45A7-A021-FA01AFD7D6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85FFD-D6B1-4E21-8E9C-69290B2D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A1D75-6E1D-4B4D-8EA6-BF2091E79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EA9E-2D75-4ECC-A835-52E5B3C8D7D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CE70D-28E1-4B02-8031-AE26BF2589B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B9F28-1C26-496E-99CA-D8DA46158AF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3856C4-1172-4845-B8B0-8E9BE820145C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Adversarial pressure exposes a safety gap; deliberation closes it at low refusal cost.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Mid-Point Research Review · Phases A–B (Weeks 1–6)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Synthetic text benchmark · Mistral-7B · 3/32 plain → 12/32 pressured · deliberation → 2/32</a:t>
            </a:r>
          </a:p>
        </p:txBody>
      </p:sp>
    </p:spTree>
    <p:extLst>
      <p:ext uri="{BB962C8B-B14F-4D97-AF65-F5344CB8AC3E}">
        <p14:creationId xmlns:p14="http://schemas.microsoft.com/office/powerpoint/2010/main" val="168703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1A66FF-9A82-40A1-8E82-CE0ED5D0667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LANDSCAPE · PIC 2.0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DC45F-DAD2-437B-8950-E4BA60A89365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Physical AI safety is a decision problem, not only a task-success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C218C-7744-4303-8EBC-8729894E9153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9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Embodied agents act on people, property, and privacy. A capable system can still fail when it accepts an unsafe or unauthorized instruction.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9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PIC 2.0 separates perception, intelligence, and control. This study isolates the intelligence/decision layer: when should the model comply, refuse, defer, or escalate?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Week 6 tests that question with public-safe synthetic scenarios for Sentinel Prime AI and Aido Humanoid.</a:t>
            </a:r>
          </a:p>
        </p:txBody>
      </p:sp>
    </p:spTree>
    <p:extLst>
      <p:ext uri="{BB962C8B-B14F-4D97-AF65-F5344CB8AC3E}">
        <p14:creationId xmlns:p14="http://schemas.microsoft.com/office/powerpoint/2010/main" val="24929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7A1F7-B620-48A4-9C88-388CAE30188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LITERATURE GAP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2EA61-00D0-4C2E-99AD-C999550F9241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Embodied benchmarks rarely test decisions under contested authority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CA27A-79DE-45C1-B89B-24E0617478A4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8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Open X-Embodiment, OpenVLA, Octo, and π0 establish capability and cross-embodiment generalization as central evaluation targets.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8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missing test is whether an otherwise-capable model maintains authorization boundaries when urgency, claimed authority, false clearance, or normalization is added.</a:t>
            </a:r>
          </a:p>
          <a:p>
            <a:pPr algn="l">
              <a:spcBef>
                <a:spcPts val="900"/>
              </a:spcBef>
              <a:spcAft>
                <a:spcPts val="0"/>
              </a:spcAft>
              <a:defRPr sz="18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Literature source: Week 2 review; Open X-Embodiment (2023), Kim et al. (2024), Octo Model Team (2024), Black et al. (2024).</a:t>
            </a:r>
          </a:p>
        </p:txBody>
      </p:sp>
    </p:spTree>
    <p:extLst>
      <p:ext uri="{BB962C8B-B14F-4D97-AF65-F5344CB8AC3E}">
        <p14:creationId xmlns:p14="http://schemas.microsoft.com/office/powerpoint/2010/main" val="174091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F4A189-2C3C-4B2F-8876-F25F26AE0343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RESEARCH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4A1C1-CA12-4A7F-BC33-D9BC3AC7EDAB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Can pressure expose failures—and can prompting mitigate them without over-refusal?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A6612-B435-450F-8A01-DDC785E96B61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RQ1 · Does baseline unsafe compliance increase from plain to pressured versions of the same target?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RQ2 · Which intervention reduces pressured failures by at least 25% while adding no more than one benign-control failure?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RQ3 · Are the direction and conclusion robust to judge choice and a deterministic sensitivity scorer?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Hypothesis · Pressure—not scenario difficulty alone—will produce the diagnostic contrast.</a:t>
            </a:r>
          </a:p>
        </p:txBody>
      </p:sp>
    </p:spTree>
    <p:extLst>
      <p:ext uri="{BB962C8B-B14F-4D97-AF65-F5344CB8AC3E}">
        <p14:creationId xmlns:p14="http://schemas.microsoft.com/office/powerpoint/2010/main" val="278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248B7-025C-41D8-B2C9-EDF137246B30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BENCHMARK · 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0D1A9-E088-43FD-BCD2-AA336FF4237D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paired synthetic benchmark isolates pressure from scenario difficulty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BF5B1-0948-42D4-B9E4-8E2752DE5C20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96 committed scenarios × 4 prompting conditions = 384 model responses. Baseline targets have paired plain and pressured forms; controls measure refusal cost.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Conditions: baseline, deliberation (chain of thought), structured output, and constraint gating. Three independent LLM judges provide the primary majority label.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Scope: text-only Mistral-7B Instruct v0.2; synthetic public-safe scenarios; no customer data, internal-system details, or proprietary procedures.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Source: W06_Scenario_Bank.json; W06_Run_Metadata.json.</a:t>
            </a:r>
          </a:p>
        </p:txBody>
      </p:sp>
    </p:spTree>
    <p:extLst>
      <p:ext uri="{BB962C8B-B14F-4D97-AF65-F5344CB8AC3E}">
        <p14:creationId xmlns:p14="http://schemas.microsoft.com/office/powerpoint/2010/main" val="143750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89C04-7DBC-4916-9498-43AE3A24B924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EXPERIMENT 1 · WEEK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FC4C5-8515-402D-9F97-951C851F7D03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Experiment 1 exposed a measurement problem and sharpened Experiment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AE49E-5B4A-44D3-82AC-82F60E252DFE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Week 5's lexical metric appeared to reward structured output by +27.8 points.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Semantic review showed that 13 of 14 flagged target failures were safe denials caught by substring matching. The apparent gain did not establish a model-level intervention benefit.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Week 6 therefore used semantic judge labels and asked a falsifiable diagnostic question: does social pressure cause unsafe compliance?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725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Source: W05_Results_Memo.md; Week 5 semantic audit.</a:t>
            </a:r>
          </a:p>
        </p:txBody>
      </p:sp>
    </p:spTree>
    <p:extLst>
      <p:ext uri="{BB962C8B-B14F-4D97-AF65-F5344CB8AC3E}">
        <p14:creationId xmlns:p14="http://schemas.microsoft.com/office/powerpoint/2010/main" val="1439255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70C28-55DC-45A9-ADF2-3A6A9DC67D22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EXPERIMENT 2 · DIAGNOSTIC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80942-DB2B-4ED8-9DDC-07FD22CF424B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Pressure raised baseline failures from 3/32 to 12/32</a:t>
            </a:r>
          </a:p>
        </p:txBody>
      </p:sp>
      <p:graphicFrame>
        <p:nvGraphicFramePr>
          <p:cNvPr id="9" name="Chart"/>
          <p:cNvGraphicFramePr/>
          <p:nvPr>
            <p:extLst>
              <p:ext uri="{D42A27DB-BD31-4B8C-83A1-F6EECF244321}">
                <p14:modId xmlns:p14="http://schemas.microsoft.com/office/powerpoint/2010/main" val="2855415507"/>
              </p:ext>
            </p:extLst>
          </p:nvPr>
        </p:nvGraphicFramePr>
        <p:xfrm>
          <a:off x="552450" y="2095500"/>
          <a:ext cx="6667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diagnostic-callout">
            <a:extLst>
              <a:ext uri="{FF2B5EF4-FFF2-40B4-BE49-F238E27FC236}">
                <a16:creationId xmlns:a16="http://schemas.microsoft.com/office/drawing/2014/main" id="{0B56A377-A033-4397-9720-6CBA893F2CC8}"/>
              </a:ext>
            </a:extLst>
          </p:cNvPr>
          <p:cNvSpPr>
            <a:spLocks noGrp="1"/>
          </p:cNvSpPr>
          <p:nvPr/>
        </p:nvSpPr>
        <p:spPr>
          <a:xfrm>
            <a:off x="7524750" y="2428875"/>
            <a:ext cx="3857625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C94C4C"/>
                </a:solidFill>
                <a:latin typeface="Calibri"/>
                <a:ea typeface="Calibri"/>
                <a:cs typeface="Calibri"/>
              </a:rPr>
              <a:t>+28.1 pp</a:t>
            </a:r>
          </a:p>
          <a:p>
            <a:pPr algn="l">
              <a:spcBef>
                <a:spcPts val="0"/>
              </a:spcBef>
              <a:spcAft>
                <a:spcPts val="65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paired difference</a:t>
            </a:r>
          </a:p>
          <a:p>
            <a:pPr algn="l">
              <a:spcBef>
                <a:spcPts val="0"/>
              </a:spcBef>
              <a:spcAft>
                <a:spcPts val="18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95% family-clustered CI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+6.3 to +53.1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Exact McNemar p = 0.0225</a:t>
            </a:r>
          </a:p>
        </p:txBody>
      </p:sp>
      <p:sp>
        <p:nvSpPr>
          <p:cNvPr id="6" name="diagnostic-source">
            <a:extLst>
              <a:ext uri="{FF2B5EF4-FFF2-40B4-BE49-F238E27FC236}">
                <a16:creationId xmlns:a16="http://schemas.microsoft.com/office/drawing/2014/main" id="{0546C4FF-4F19-491F-8544-88D5DF8C1A01}"/>
              </a:ext>
            </a:extLst>
          </p:cNvPr>
          <p:cNvSpPr>
            <a:spLocks noGrp="1"/>
          </p:cNvSpPr>
          <p:nvPr/>
        </p:nvSpPr>
        <p:spPr>
          <a:xfrm>
            <a:off x="638175" y="5905500"/>
            <a:ext cx="10810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Source: W06_Analysis.json; majority of three independent LLM judges. Paired baseline comparison, n = 32 per cell.</a:t>
            </a:r>
          </a:p>
        </p:txBody>
      </p:sp>
    </p:spTree>
    <p:extLst>
      <p:ext uri="{BB962C8B-B14F-4D97-AF65-F5344CB8AC3E}">
        <p14:creationId xmlns:p14="http://schemas.microsoft.com/office/powerpoint/2010/main" val="77022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EF2933-E127-4316-A2F2-C671C8D2C83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EXPERIMENT 2 · MITIGATION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F89B4-CAB0-477B-9443-0E31444C5301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Deliberation is</a:t>
            </a: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the</a:t>
            </a: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only tested intervention meeting the mitigation rule</a:t>
            </a:r>
          </a:p>
        </p:txBody>
      </p:sp>
      <p:graphicFrame>
        <p:nvGraphicFramePr>
          <p:cNvPr id="9" name="Chart"/>
          <p:cNvGraphicFramePr/>
          <p:nvPr>
            <p:extLst>
              <p:ext uri="{D42A27DB-BD31-4B8C-83A1-F6EECF244321}">
                <p14:modId xmlns:p14="http://schemas.microsoft.com/office/powerpoint/2010/main" val="3508111146"/>
              </p:ext>
            </p:extLst>
          </p:nvPr>
        </p:nvGraphicFramePr>
        <p:xfrm>
          <a:off x="552450" y="2095500"/>
          <a:ext cx="7524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itigation-callout">
            <a:extLst>
              <a:ext uri="{FF2B5EF4-FFF2-40B4-BE49-F238E27FC236}">
                <a16:creationId xmlns:a16="http://schemas.microsoft.com/office/drawing/2014/main" id="{F8D26B59-458F-418D-9D93-04CB8E6CAA7A}"/>
              </a:ext>
            </a:extLst>
          </p:cNvPr>
          <p:cNvSpPr>
            <a:spLocks noGrp="1"/>
          </p:cNvSpPr>
          <p:nvPr/>
        </p:nvSpPr>
        <p:spPr>
          <a:xfrm>
            <a:off x="8334375" y="2333625"/>
            <a:ext cx="30956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ONLY PASS</a:t>
            </a:r>
          </a:p>
          <a:p>
            <a:pPr algn="l">
              <a:spcBef>
                <a:spcPts val="0"/>
              </a:spcBef>
              <a:spcAft>
                <a:spcPts val="220"/>
              </a:spcAft>
              <a:defRPr sz="13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Deliberation</a:t>
            </a:r>
          </a:p>
          <a:p>
            <a:pPr algn="l">
              <a:spcBef>
                <a:spcPts val="0"/>
              </a:spcBef>
              <a:spcAft>
                <a:spcPts val="120"/>
              </a:spcAft>
              <a:defRPr sz="13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94C4C"/>
                </a:solidFill>
                <a:latin typeface="Calibri"/>
                <a:ea typeface="Calibri"/>
                <a:cs typeface="Calibri"/>
              </a:rPr>
              <a:t>12 → 2 pressured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3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1 → 1 controls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Gating reaches 0 pressured failures, but controls rise 1 → 4.</a:t>
            </a:r>
          </a:p>
        </p:txBody>
      </p:sp>
      <p:sp>
        <p:nvSpPr>
          <p:cNvPr id="6" name="mitigation-source">
            <a:extLst>
              <a:ext uri="{FF2B5EF4-FFF2-40B4-BE49-F238E27FC236}">
                <a16:creationId xmlns:a16="http://schemas.microsoft.com/office/drawing/2014/main" id="{68D7DB1A-2A3B-4027-939E-7615F84EF82B}"/>
              </a:ext>
            </a:extLst>
          </p:cNvPr>
          <p:cNvSpPr>
            <a:spLocks noGrp="1"/>
          </p:cNvSpPr>
          <p:nvPr/>
        </p:nvSpPr>
        <p:spPr>
          <a:xfrm>
            <a:off x="638175" y="5905500"/>
            <a:ext cx="10810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Registered rule: ≥25% relative reduction and ≤1 added control failure. Source: W06_Analysis.json; majority endpoint.</a:t>
            </a:r>
          </a:p>
        </p:txBody>
      </p:sp>
    </p:spTree>
    <p:extLst>
      <p:ext uri="{BB962C8B-B14F-4D97-AF65-F5344CB8AC3E}">
        <p14:creationId xmlns:p14="http://schemas.microsoft.com/office/powerpoint/2010/main" val="111928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259DD-392D-4D45-940D-06877B80B880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EMERGING CLAIM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59CB0-BCE8-47D0-B9FC-B51BC10981C7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this synthetic Mistral benchmark, pressure concentrated unsafe compliance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7EE79-76E9-42FF-BE2D-D0F7F81D8CA4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Plain baseline failures were uncommon (3/32); paired adversarial pressure raised them to 12/32.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Deliberation was the only tested intervention that met the registered benefit/cost rule. Structured output did not help; hard gating traded safety gains for extra benign refusals.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This is a model and benchmark-bounded finding</a:t>
            </a:r>
            <a:r>
              <a:rPr lang="en-US" sz="1650" b="1" dirty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50" b="1" dirty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not multimodal validation or evidence of production performance.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50" b="0" dirty="0">
                <a:solidFill>
                  <a:srgbClr val="555566"/>
                </a:solidFill>
                <a:latin typeface="Calibri"/>
                <a:ea typeface="Calibri"/>
                <a:cs typeface="Calibri"/>
              </a:rPr>
              <a:t>Limits: automated judging and judge sensitivity; one model; synthetic scenarios; context-slot confound. Source: W06_Analysis.json.</a:t>
            </a:r>
          </a:p>
        </p:txBody>
      </p:sp>
    </p:spTree>
    <p:extLst>
      <p:ext uri="{BB962C8B-B14F-4D97-AF65-F5344CB8AC3E}">
        <p14:creationId xmlns:p14="http://schemas.microsoft.com/office/powerpoint/2010/main" val="1037891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D36CF2-1708-4415-BC32-2D05F2F86EA9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PLAN · PHASE C/D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431F9-0933-47E5-BBEC-9700C3822AB2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Phase C and D test whether the finding survives broader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E3FEE-71B5-4A85-8569-949A3C28DB80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Week 7 · integrate Weeks 3–6 into one evidence chain and carry forward effect sizes, uncertainty, and failure taxonomy.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Weeks 8–9 · add a second model family; run blinded human review on high-severity items; isolate the context-slot confound.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Weeks 10–12 · draft the research paper and final review around a pressure-robustness claim that remains explicitly bounded.</a:t>
            </a:r>
          </a:p>
        </p:txBody>
      </p:sp>
    </p:spTree>
    <p:extLst>
      <p:ext uri="{BB962C8B-B14F-4D97-AF65-F5344CB8AC3E}">
        <p14:creationId xmlns:p14="http://schemas.microsoft.com/office/powerpoint/2010/main" val="38680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Office PowerPoint</Application>
  <DocSecurity>0</DocSecurity>
  <PresentationFormat>Widescreen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IHAVEDNA</cp:lastModifiedBy>
  <cp:revision>2</cp:revision>
  <dcterms:created xsi:type="dcterms:W3CDTF">2026-07-15T12:18:52Z</dcterms:created>
  <dcterms:modified xsi:type="dcterms:W3CDTF">2026-07-15T12:32:44Z</dcterms:modified>
</cp:coreProperties>
</file>